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2" r:id="rId4"/>
    <p:sldId id="283" r:id="rId5"/>
    <p:sldId id="259" r:id="rId6"/>
    <p:sldId id="258" r:id="rId7"/>
    <p:sldId id="260" r:id="rId8"/>
    <p:sldId id="261" r:id="rId9"/>
    <p:sldId id="262" r:id="rId10"/>
    <p:sldId id="263" r:id="rId11"/>
    <p:sldId id="287" r:id="rId34"/>
    <p:sldId id="288" r:id="rId35"/>
    <p:sldId id="266" r:id="rId12"/>
    <p:sldId id="284" r:id="rId13"/>
    <p:sldId id="264" r:id="rId14"/>
    <p:sldId id="286" r:id="rId15"/>
    <p:sldId id="269" r:id="rId16"/>
    <p:sldId id="285" r:id="rId17"/>
    <p:sldId id="271" r:id="rId18"/>
    <p:sldId id="270" r:id="rId19"/>
    <p:sldId id="273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27"/>
    <p:restoredTop sz="94635"/>
  </p:normalViewPr>
  <p:slideViewPr>
    <p:cSldViewPr snapToGrid="0">
      <p:cViewPr>
        <p:scale>
          <a:sx n="72" d="100"/>
          <a:sy n="72" d="100"/>
        </p:scale>
        <p:origin x="81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9A81-803E-E07C-BF24-3E9D5ECCA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3E8231-C67B-44F0-89BC-28174CAA7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834E9-3D1B-686C-6867-2A9676AD4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EEC00-7A69-5D9E-D1DD-B0BF6740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83D2-3C5A-C67E-DE91-A9BC1D64E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3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37FFA-B481-0419-35A2-6EB40102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6F907-5192-056B-F18E-170812629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8810F-549B-BD29-E9C5-C9AFA613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12EE-04AA-2B52-AA70-EEAAD110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21F23-1378-CDA8-15BB-F0886E397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6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590D-125B-671A-4CD3-F0B3EB954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6E9B-C560-3AE6-4592-DC38B7822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E2AB2-DF4D-3519-C245-DE0DFAFE7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DE251-E2E5-795E-66A1-B8849AEC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709A4-214E-D491-9F1C-9294A9F24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037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FBE1-8E6C-F308-F556-65B146AE4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CF01E-E2EC-E0BF-CA70-CB78CA7AB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778C0-751C-1167-5BC5-C265244A3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BC419-40A3-C8BD-7241-E52AFD70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96489-17E1-FDB3-6E53-FD828F07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D06CD-8C0F-F3C1-439C-4A0D8DC0A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284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1152-CCD1-AE5D-97B1-699F061B5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194E-0160-42BF-C618-BBF0F42CC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527F9B-B61A-6FDB-E583-A6FC2D028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FC8F28-B823-994F-383C-A1E03307C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8979-19E1-55BC-7B7D-C581CA927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838C-1287-90F8-96EA-CB8935F24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7A0686-1661-F3E5-1E9B-F76973FFF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F2AD15-2E70-A51D-4BBE-DE83FD9C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1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70A2-3688-4FAB-26B9-AB8D0B32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FD4FF-2397-773C-B860-FCDB981B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43717-EF74-05AF-8215-07DDA7FE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0C33D0-91F8-133E-0648-AB53ED1A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15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2FD26-294C-9931-EF86-69AB24F9E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D7E4A4-F155-8948-2002-856D714A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145FE-C552-94B1-2462-DF1C344E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9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4C1F-DF73-40A9-5FA5-942393E7B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ABC9-B534-DCBC-5E0D-8208DC254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E1B65-28DF-DB11-7819-B585CAE91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76ECA-CFAF-C9ED-64EE-4214B261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7A746-2FF8-FC4E-C25D-3304F751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9430A1-6629-82C6-C3E4-E18A42DC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7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0FBB-8DD3-CA0A-E7DA-EFBDF5CF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A7E41-0C4E-DD0E-2E13-D8BAEC574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11511F-A212-1A14-8938-D7014448B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58DF0-B027-E086-8499-87A337DF9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00F41-D0FD-5D55-210C-E761A297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5BF27-B134-55B2-ECC5-2B256C0EF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79A3C-CA30-5E03-A372-BEF0C3559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746FED-62D0-458D-361B-795A103D0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3B0B-10D3-4002-F2F0-4248EF658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A467D-FA6E-835C-C1A9-798E54D7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3B5B0-2556-61F2-38B7-D31F65A5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8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3101B-7504-7EB9-4186-6891823E7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A06F8-F187-4D9D-0373-96FD3EFEB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4B190-063D-0C40-C24E-992EF21DE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FE78D-D57C-963C-BBCA-60DF53C64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27E4-7EF5-C0C9-E06C-D141E2E5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2620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432B4-D51E-7CB8-627C-083A0E79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EC5BB-3FFB-119B-1B8C-C00062C6E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92179-73F2-4ACB-ACC9-70372D02A3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E1CD3-67E0-CB4C-B1AD-232E2026462D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1439-997E-512A-7B15-A2FED12E5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7173-7E3D-E55E-B96A-66A99B957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BD1DB-B88D-DD4B-A7E7-1252640DF6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F6F62-1031-630C-39BB-A7B3CDE962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68985B-781F-954D-68A6-383A0B195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9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A grant claim is an evidence problem, not an arithmetic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EDB funds the research headcount.  </a:t>
            </a:r>
            <a:r>
              <a:rPr sz="1450">
                <a:solidFill>
                  <a:srgbClr val="0B0F17"/>
                </a:solidFill>
                <a:latin typeface="Calibri"/>
              </a:rPr>
              <a:t>The Economic Development Board co-funds the salaries of qualifying research staff hired for approved research projects — a material amount to the organisation, claimed across 18 participating entities and a three-year qualifying period.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Preparing it is manual, and repeats every claim.  </a:t>
            </a:r>
            <a:r>
              <a:rPr sz="1450">
                <a:solidFill>
                  <a:srgbClr val="0B0F17"/>
                </a:solidFill>
                <a:latin typeface="Calibri"/>
              </a:rPr>
              <a:t>HR re-keys the same people out of three separate workbook contracts — an internal checklist/timesheet per entity, a payroll register, an ECMF-validated researcher list — into EDB's official template, by hand, per person, per month.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The audit is the real constraint.  </a:t>
            </a:r>
            <a:r>
              <a:rPr sz="1450">
                <a:solidFill>
                  <a:srgbClr val="0B0F17"/>
                </a:solidFill>
                <a:latin typeface="Calibri"/>
              </a:rPr>
              <a:t>An ACRA-registered Public Accountant performs SSRS 4400 agreed-upon procedures and samples at least 85% of the claimed value against the Statement of Expenditure. Almost every claim row must be able to show where its number came from.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So evidence cannot be reconstructed afterwards.  </a:t>
            </a:r>
            <a:r>
              <a:rPr sz="1450">
                <a:solidFill>
                  <a:srgbClr val="0B0F17"/>
                </a:solidFill>
                <a:latin typeface="Calibri"/>
              </a:rPr>
              <a:t>It has to be captured at the moment a value is read out of a workbook and carried all the way to the submission — file, sheet, cell.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And the answer must not move.  </a:t>
            </a:r>
            <a:r>
              <a:rPr sz="1450">
                <a:solidFill>
                  <a:srgbClr val="0B0F17"/>
                </a:solidFill>
                <a:latin typeface="Calibri"/>
              </a:rPr>
              <a:t>Determinism is an audit property: a re-run during the audit window has to produce the same figures, or the claim is not defensible.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870448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61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Out of scope by design: equipment and other cost categories, claims for foreign staff (flagged, never claimed), live HR/payroll integration, and anything that replaces the auditor's own procedures.</a:t>
            </a:r>
          </a:p>
        </p:txBody>
      </p:sp>
    </p:spTree>
    <p:extLst>
      <p:ext uri="{BB962C8B-B14F-4D97-AF65-F5344CB8AC3E}">
        <p14:creationId xmlns:p14="http://schemas.microsoft.com/office/powerpoint/2010/main" val="19477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A27A-073A-ABAF-0AB5-F666C336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12695-8C94-CF46-5AD6-A5F7642A3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297E2-EEF9-4C6F-E6DD-A876AF7153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99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49D92-EB42-D57F-7119-86E44454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An agentic system HR can trust with a financial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An agentic document-verification system for HR.  </a:t>
            </a:r>
            <a:r>
              <a:rPr sz="1450">
                <a:solidFill>
                  <a:srgbClr val="0B0F17"/>
                </a:solidFill>
                <a:latin typeface="Calibri"/>
              </a:rPr>
              <a:t>Upload the HR records and the system reads them, tracks what is missing, applies EDB's rules person by person and month by month, and produces the filled submission pack.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Harness engineering, because the subject is money.  </a:t>
            </a:r>
            <a:r>
              <a:rPr sz="1450">
                <a:solidFill>
                  <a:srgbClr val="0B0F17"/>
                </a:solidFill>
                <a:latin typeface="Calibri"/>
              </a:rPr>
              <a:t>The intelligence is wrapped in guardrails: schema-constrained calls at temperature 0, a cache-and-replay log, and a hard boundary the model cannot cross.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The model proposes; the engine disposes.  </a:t>
            </a:r>
            <a:r>
              <a:rPr sz="1450">
                <a:solidFill>
                  <a:srgbClr val="0B0F17"/>
                </a:solidFill>
                <a:latin typeface="Calibri"/>
              </a:rPr>
              <a:t>Every claim figure is computed in plain, auditable Python. The LLM only proposes extractions and judgements for HR to confirm — three tests assert that the calculation modules cannot even import the LLM layer.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Grounded retrieval for the assistant.  </a:t>
            </a:r>
            <a:r>
              <a:rPr sz="1450">
                <a:solidFill>
                  <a:srgbClr val="0B0F17"/>
                </a:solidFill>
                <a:latin typeface="Calibri"/>
              </a:rPr>
              <a:t>Figure questions are answered by exact SQL over the rows the pipeline actually computed; scheme questions are answered from a curated knowledge base; "fetch the evidence for &lt;name&gt;" returns the source documents and cells, so HR can satisfy a re-verification request on the spot.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Evidence threaded from the parser.  </a:t>
            </a:r>
            <a:r>
              <a:rPr sz="1450">
                <a:solidFill>
                  <a:srgbClr val="0B0F17"/>
                </a:solidFill>
                <a:latin typeface="Calibri"/>
              </a:rPr>
              <a:t>312 evidence references are live in the store — any figure on screen is one click from the cell it came from, and the same trail is exported for the Practitioner.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Both methods, and the disagreement between them.  </a:t>
            </a:r>
            <a:r>
              <a:rPr sz="1450">
                <a:solidFill>
                  <a:srgbClr val="0B0F17"/>
                </a:solidFill>
                <a:latin typeface="Calibri"/>
              </a:rPr>
              <a:t>EDB's monthly pro-ration is what gets submitted; the internal hours-ratio method runs beside it as a second opinion, with a variance report — because the ruling on which governs every edge case is still pending.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870448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61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Fully local: salary data is processed on the machine it was uploaded to. There is no external API call on claim data at any point.</a:t>
            </a:r>
          </a:p>
        </p:txBody>
      </p:sp>
    </p:spTree>
    <p:extLst>
      <p:ext uri="{BB962C8B-B14F-4D97-AF65-F5344CB8AC3E}">
        <p14:creationId xmlns:p14="http://schemas.microsoft.com/office/powerpoint/2010/main" val="19198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BC55-E2AB-CDF9-5A20-3FBC54EA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AC0D-AB71-2E4F-BB9C-7CE9582CF8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Mental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085D6D-52C3-0462-B6E3-0A8D861826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52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One identity, three rules that never bend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27632"/>
            <a:ext cx="10515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Hold this and the rest of the system follows: the claim is a sum over person-months, and everything else exists to prove each term of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6446520" cy="257365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2322576"/>
            <a:ext cx="6080760" cy="231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7FB0E0"/>
                </a:solidFill>
                <a:latin typeface="Consolas"/>
              </a:rPr>
              <a:t># the whole claim, in one line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claim  =  support_rate  ×  Σ  over claimable months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                             min(basic_salary, 20_000)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                           × month_fraction        # weekdays worked / weekdays in month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                           × time_on_project       # % from the timesheet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FB0E0"/>
                </a:solidFill>
                <a:latin typeface="Consolas"/>
              </a:rPr>
              <a:t># and the constants that decide who is in the sum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support_rate = 0.60        CONFIRMED — EDB Support Package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salary_floor = 5_000       below it the person is EXCLUDED, not clamped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salary_cap   = 20_000      above it the salary is clamped, person retained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>hours_per_day = 8.8        weekdays only — no public-holiday adjustment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7E3F4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7FB0E0"/>
                </a:solidFill>
                <a:latin typeface="Consolas"/>
              </a:rPr>
              <a:t># effective ceiling per person:  0.60 × 20,000 = $12,000 /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157984"/>
            <a:ext cx="3886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Arithmetic is Python.  </a:t>
            </a:r>
            <a:r>
              <a:rPr sz="1050">
                <a:solidFill>
                  <a:srgbClr val="0B0F17"/>
                </a:solidFill>
                <a:latin typeface="Calibri"/>
              </a:rPr>
              <a:t>No model, no spreadsheet formula, no cell reference we cannot re-derive. Same inputs, same figures, every run.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The model proposes, the engine disposes.  </a:t>
            </a:r>
            <a:r>
              <a:rPr sz="1050">
                <a:solidFill>
                  <a:srgbClr val="0B0F17"/>
                </a:solidFill>
                <a:latin typeface="Calibri"/>
              </a:rPr>
              <a:t>The LLM may suggest a reading or flag a borderline designation. It never writes a number.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Every figure has a cell.  </a:t>
            </a:r>
            <a:r>
              <a:rPr sz="1050">
                <a:solidFill>
                  <a:srgbClr val="0B0F17"/>
                </a:solidFill>
                <a:latin typeface="Calibri"/>
              </a:rPr>
              <a:t>A value that cannot name its source workbook, sheet and cell does not belong in a claim.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Nothing is silently dropped.  </a:t>
            </a:r>
            <a:r>
              <a:rPr sz="1050">
                <a:solidFill>
                  <a:srgbClr val="0B0F17"/>
                </a:solidFill>
                <a:latin typeface="Calibri"/>
              </a:rPr>
              <a:t>Excluded people leave with a reason and an authority. Low-confidence answers are shown with the reason they are low — never discarded.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The two floors are different animals and the distinction is worth $12,000: the S$5,000 floor is an eligibility gate that removes a person; the S$20,000 cap is arithmetic that keeps them.</a:t>
            </a:r>
          </a:p>
        </p:txBody>
      </p:sp>
    </p:spTree>
    <p:extLst>
      <p:ext uri="{BB962C8B-B14F-4D97-AF65-F5344CB8AC3E}">
        <p14:creationId xmlns:p14="http://schemas.microsoft.com/office/powerpoint/2010/main" val="91728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552AC-0B84-CA86-735E-7B676C6F7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F916-2528-730F-4B4C-AF6CDCD45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Overall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A413F-397E-E9BD-9CCD-120EAB71A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66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3A2A-6D43-C118-E9B0-52425EDD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How a claim flows — five guided stages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6948" y="1657624"/>
            <a:ext cx="1960244" cy="89245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1703344"/>
            <a:ext cx="1813940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3355E"/>
                </a:solidFill>
                <a:latin typeface="Calibri"/>
              </a:rPr>
              <a:t>1 · Upload documents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internal timesheet workbooks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ECMF RSE list · payroll register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supporting evidence ticked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55214" y="1657624"/>
            <a:ext cx="1960244" cy="89245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8366" y="1703344"/>
            <a:ext cx="1813940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2 · Document check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FR-2 completeness matrix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19 doc types, scoped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per person and per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657624"/>
            <a:ext cx="1960244" cy="89245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6632" y="1703344"/>
            <a:ext cx="1813940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3 · Eligibility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gates G1–G7 + 4 cross-checks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verdict per person: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QUALIFIES / BLOCKED / EXCLUDED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1746" y="1657624"/>
            <a:ext cx="1960244" cy="89245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84898" y="1703344"/>
            <a:ext cx="1813940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4 · Claim amount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 A — submitted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 B — cross-check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every month shown in full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40012" y="1657624"/>
            <a:ext cx="1960244" cy="892454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3164" y="1703344"/>
            <a:ext cx="1813940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5 · Submission pack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one click, three workbooks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every figure carries its cell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55214" y="3174796"/>
            <a:ext cx="1960244" cy="803208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8366" y="3220516"/>
            <a:ext cx="1813940" cy="711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Fix or acknowledge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Continue stays disabled until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the document is re-uploaded or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the gap is signed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174796"/>
            <a:ext cx="1960244" cy="803208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3220516"/>
            <a:ext cx="1813940" cy="711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Excluded / blocked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reason + authority + source cell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reported, never dropped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11746" y="3174796"/>
            <a:ext cx="1960244" cy="803208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4898" y="3220516"/>
            <a:ext cx="1813940" cy="711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Variance A vs B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Δ$ · Δ% · New-Hire isolation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surfaced before the auditor sees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0012" y="3174796"/>
            <a:ext cx="1960244" cy="803208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3164" y="3220516"/>
            <a:ext cx="1813940" cy="711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EDB template · SOE · Issues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official RIS(C) v1.1 export,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the Practitioner's evidence pack,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HR's action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" y="4602723"/>
            <a:ext cx="10473309" cy="6247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4648443"/>
            <a:ext cx="10327005" cy="5332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5A6472"/>
                </a:solidFill>
                <a:latin typeface="Calibri"/>
              </a:rPr>
              <a:t>Grant &amp; Verification Assistant — on every screen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figures answered by exact SQL over the computed rows  ·  scheme questions answered from the knowledge base  ·  "fetch the evidence for &lt;name&gt;" returns files and cells  ·  read-only, and every answer is groundedness-checked before it is shown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87193" y="2103851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815459" y="2103851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3724" y="2103851"/>
            <a:ext cx="16802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71991" y="2103851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35336" y="2612550"/>
            <a:ext cx="0" cy="499774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899344" y="2752709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>
                <a:solidFill>
                  <a:srgbClr val="B54708"/>
                </a:solidFill>
                <a:latin typeface="Calibri"/>
              </a:rPr>
              <a:t>if anything is missing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63602" y="2612550"/>
            <a:ext cx="0" cy="499774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91868" y="2612550"/>
            <a:ext cx="0" cy="499774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20134" y="2612550"/>
            <a:ext cx="0" cy="499774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Every stage is reversible and nothing is silently dropped: the doc check blocks until the gap is fixed or explicitly acknowledged, and anyone excluded leaves with a reason and a source cell.</a:t>
            </a:r>
          </a:p>
        </p:txBody>
      </p:sp>
    </p:spTree>
    <p:extLst>
      <p:ext uri="{BB962C8B-B14F-4D97-AF65-F5344CB8AC3E}">
        <p14:creationId xmlns:p14="http://schemas.microsoft.com/office/powerpoint/2010/main" val="118733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1EBF-4033-BCE0-DA1A-174454DB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D649-361A-2D1C-B078-9F50E3902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28299F-4323-31F5-2831-B0013C65FB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684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9C43-B640-7F07-4793-7CDD9E5B5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Module map and the sealed 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4513478"/>
            <a:ext cx="11201400" cy="3175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59198"/>
            <a:ext cx="11201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B54708"/>
                </a:solidFill>
                <a:latin typeface="Calibri"/>
              </a:rPr>
              <a:t>HARD BOUNDARY — nothing in calc/ or output/ may import llm/ · enforced by 3 subprocess import tests, not by convention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75004" y="1613001"/>
            <a:ext cx="2912364" cy="4462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8156" y="1658721"/>
            <a:ext cx="2766060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app/main.py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Streamlit shell · 1,356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7438" y="1613001"/>
            <a:ext cx="2912364" cy="4462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0590" y="1658721"/>
            <a:ext cx="2766060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webui/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React 18 + Vite + Tailwind · 2,764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13001"/>
            <a:ext cx="2912364" cy="4462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658721"/>
            <a:ext cx="2766060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api/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FastAPI server 399 · serialize 240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75004" y="2326965"/>
            <a:ext cx="9857232" cy="356981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8156" y="2372685"/>
            <a:ext cx="9710928" cy="265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app/pipeline.py — run_pipeline()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the single orchestration seam · 631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75004" y="2862437"/>
            <a:ext cx="1837029" cy="75858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8156" y="2908157"/>
            <a:ext cx="1690725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domain/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models 324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calendar_utils 113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80054" y="2862437"/>
            <a:ext cx="1837029" cy="75858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3206" y="2908157"/>
            <a:ext cx="1690725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ingest/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timesheet 648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salary 451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rse_list 223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5105" y="2862437"/>
            <a:ext cx="1837029" cy="75858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8257" y="2908157"/>
            <a:ext cx="1690725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validate/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completeness 856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gates 455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crosschecks 338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verdict 135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90155" y="2862437"/>
            <a:ext cx="1837029" cy="75858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3307" y="2908157"/>
            <a:ext cx="1690725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calc/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method_a 245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method_b 269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variance 149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5206" y="2862437"/>
            <a:ext cx="1837029" cy="758586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8358" y="2908157"/>
            <a:ext cx="1690725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output/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soe 307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edb_writer 164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reports 86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75004" y="3933383"/>
            <a:ext cx="2688336" cy="446227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48156" y="3979103"/>
            <a:ext cx="2542032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db/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schema 379 · store 842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16 tables · vec0 provisioned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75704" y="3933383"/>
            <a:ext cx="4256532" cy="446227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8856" y="3979103"/>
            <a:ext cx="4110228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eval/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harness 277 · groundedness 320 · questions 146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5004" y="4781214"/>
            <a:ext cx="9857232" cy="580095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8156" y="4826934"/>
            <a:ext cx="9710928" cy="488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llm/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client 335 · qa 630 · extract 287 · reconcile 224 · designation 178 · cache 169 · advisories 123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16621" y="1836115"/>
            <a:ext cx="24643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08317" y="159837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1">
                <a:solidFill>
                  <a:srgbClr val="1F4E79"/>
                </a:solidFill>
                <a:latin typeface="Calibri"/>
              </a:rPr>
              <a:t>/api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76054" y="2121700"/>
            <a:ext cx="0" cy="142793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31186" y="2121700"/>
            <a:ext cx="0" cy="142793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012033" y="3241730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17084" y="3241730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22134" y="3241730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027185" y="3241730"/>
            <a:ext cx="168021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103620" y="3683495"/>
            <a:ext cx="0" cy="93708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519172" y="3777203"/>
            <a:ext cx="3584448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19172" y="3777203"/>
            <a:ext cx="0" cy="93708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4098569" y="3683495"/>
            <a:ext cx="0" cy="1035247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62577" y="409139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>
                <a:solidFill>
                  <a:srgbClr val="B54708"/>
                </a:solidFill>
                <a:latin typeface="Calibri"/>
              </a:rPr>
              <a:t>proposals only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103620" y="3683495"/>
            <a:ext cx="0" cy="1035247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Arrows point the way dependencies flow. Both front-ends converge on one seam, app/pipeline.py:538 run_pipeline(). Line counts are real.</a:t>
            </a:r>
          </a:p>
        </p:txBody>
      </p:sp>
    </p:spTree>
    <p:extLst>
      <p:ext uri="{BB962C8B-B14F-4D97-AF65-F5344CB8AC3E}">
        <p14:creationId xmlns:p14="http://schemas.microsoft.com/office/powerpoint/2010/main" val="3723920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B840B-FC2F-9B21-BF0E-692A343E5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3EDE-9A26-3FB4-3928-E7DA953E0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 Schema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C52D4-2B56-209B-98F6-B8BEFFEEF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45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>
                <a:solidFill>
                  <a:srgbClr val="0B0F17"/>
                </a:solidFill>
                <a:latin typeface="Calibri"/>
              </a:rPr>
              <a:t>One local SQLite file, </a:t>
            </a:r>
            <a:r>
              <a:rPr sz="2600" b="1" dirty="0" err="1">
                <a:solidFill>
                  <a:srgbClr val="0B0F17"/>
                </a:solidFill>
                <a:latin typeface="Calibri"/>
              </a:rPr>
              <a:t>employee_id</a:t>
            </a:r>
            <a:r>
              <a:rPr sz="2600" b="1" dirty="0">
                <a:solidFill>
                  <a:srgbClr val="0B0F17"/>
                </a:solidFill>
                <a:latin typeface="Calibri"/>
              </a:rPr>
              <a:t> as partition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216152"/>
            <a:ext cx="29260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216152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 dirty="0">
                <a:solidFill>
                  <a:srgbClr val="FFFFFF"/>
                </a:solidFill>
                <a:latin typeface="Calibri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216152"/>
            <a:ext cx="60350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76472" y="1216152"/>
            <a:ext cx="5943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38360" y="1216152"/>
            <a:ext cx="219456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11512" y="1216152"/>
            <a:ext cx="21031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FFFFFF"/>
                </a:solidFill>
                <a:latin typeface="Calibri"/>
              </a:rPr>
              <a:t>Live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154533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54533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roster identity, designation, hire type, citizenship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154533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77850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1778508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177850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employee_identifier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77850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(id_type, id_value) → employee_id; NRIC, alias,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77850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01168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201168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employee_document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01168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the FR-2 completeness matrix, persisted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01168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24485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77240" y="2244852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2244852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person_month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2244852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(employee, year, month) basic_salary +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2244852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247802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2478024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gate_result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6472" y="2478024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 dirty="0">
                <a:solidFill>
                  <a:srgbClr val="0B0F17"/>
                </a:solidFill>
                <a:latin typeface="Calibri"/>
              </a:rPr>
              <a:t>one row per (employee, gate) with reason + </a:t>
            </a:r>
            <a:r>
              <a:rPr sz="980" b="0" dirty="0" err="1">
                <a:solidFill>
                  <a:srgbClr val="0B0F17"/>
                </a:solidFill>
                <a:latin typeface="Calibri"/>
              </a:rPr>
              <a:t>ref_id</a:t>
            </a:r>
            <a:endParaRPr sz="980" b="0" dirty="0">
              <a:solidFill>
                <a:srgbClr val="0B0F17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11512" y="2478024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238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271119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7240" y="2711196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" y="271119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verdict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76472" y="271119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status + failed_gates JSON + reasons JSON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1512" y="271119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294436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" y="294436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calc_result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76472" y="294436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(employee, method) — 34 people × Method A and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294436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68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317754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7240" y="3177540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0392" y="3177540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evidence_ref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76472" y="3177540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UNIQUE(employee_id, figure_key) — the FR-7 spine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1512" y="3177540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3410712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410712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document / doc_blob / doc_link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76472" y="3410712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metadata split from bytes so scans skip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1512" y="3410712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13355E"/>
                </a:solidFill>
                <a:latin typeface="Calibri"/>
              </a:rPr>
              <a:t>3 blobs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" y="3643884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77240" y="3643884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0392" y="3643884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llm_log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76472" y="3643884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prompt, raw response, parsed, confidence, run_id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11512" y="3643884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3877056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50392" y="3877056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run_manifest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76472" y="3877056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config_hash, support_rate, code_version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11512" y="3877056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4110228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7240" y="4110228"/>
            <a:ext cx="11155680" cy="233172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0392" y="4110228"/>
            <a:ext cx="283464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1">
                <a:solidFill>
                  <a:srgbClr val="0B0F17"/>
                </a:solidFill>
                <a:latin typeface="Calibri"/>
              </a:rPr>
              <a:t>chunk / chunk_vec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76472" y="4110228"/>
            <a:ext cx="594360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0B0F17"/>
                </a:solidFill>
                <a:latin typeface="Calibri"/>
              </a:rPr>
              <a:t>vec0 virtual table, FLOAT[384] — sqlite-vec active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11512" y="4110228"/>
            <a:ext cx="2103120" cy="2331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980" b="0">
                <a:solidFill>
                  <a:srgbClr val="B42318"/>
                </a:solidFill>
                <a:latin typeface="Calibr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" y="4343400"/>
            <a:ext cx="1115568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B692-2496-F3C2-D682-E3673BDB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E10D3-2644-9CAE-C9D9-720811EC2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77BDEF-A4FC-EDC5-6DAC-ABA9B8DE1C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60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How we check the system is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A6472"/>
                </a:solidFill>
                <a:latin typeface="Calibri"/>
              </a:rPr>
              <a:t>Eight checks run on every build, against a synthetic staff list built to fail in known ways. Each one either passes or names what it found — and no score is reported without saying what that score covers.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249424"/>
            <a:ext cx="274320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249424"/>
            <a:ext cx="2651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What we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249424"/>
            <a:ext cx="539496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2249424"/>
            <a:ext cx="53035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How we check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2249424"/>
            <a:ext cx="237744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2249424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Where it stands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The money is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57860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Compared to EDB's own published example, and to hand calculations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257860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Matches to the cent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5292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852928"/>
            <a:ext cx="1051560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5292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Every planted mistake is caught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85292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13 deliberate problems seeded in the staff list, one per person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285292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All 13 caught and labelled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12724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12724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Nobody is set aside quietly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12724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Each exclusion carries its reason, the rule, and the cell behind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312724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Checked on every 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0156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401568"/>
            <a:ext cx="1051560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0156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Same documents, same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9312" y="340156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The claim is recalculated and the results compared figure by figure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340156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Identical every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67588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67588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The assistant invents nothing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367588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33 set questions; every number in an answer must match a calculated 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367588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33 of 33, none invented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95020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3950208"/>
            <a:ext cx="1051560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9502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Nothing is hidden from HR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2" y="395020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Unsure answers are still shown, with a plain reason for the doubt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395020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Built in, always 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22452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22452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Every figure traces to its 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9312" y="422452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Follow any number to the file, the sheet and the cell it came from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422452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312 references, all resolve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49884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" y="4498848"/>
            <a:ext cx="10515600" cy="27432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" y="449884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B0F17"/>
                </a:solidFill>
                <a:latin typeface="Calibri"/>
              </a:rPr>
              <a:t>Payslips, job titles, names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9312" y="4498848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The three remaining checks in the plan, on the same staff list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449884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B0F17"/>
                </a:solidFill>
                <a:latin typeface="Calibri"/>
              </a:rPr>
              <a:t>Set up, not yet scored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773168"/>
            <a:ext cx="10515600" cy="6350"/>
          </a:xfrm>
          <a:prstGeom prst="rect">
            <a:avLst/>
          </a:prstGeom>
          <a:solidFill>
            <a:srgbClr val="D7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4882896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 b="1">
                <a:solidFill>
                  <a:srgbClr val="0B0F17"/>
                </a:solidFill>
                <a:latin typeface="Calibri"/>
              </a:rPr>
              <a:t>The 13 planted cases:  </a:t>
            </a:r>
            <a:r>
              <a:rPr sz="1050">
                <a:solidFill>
                  <a:srgbClr val="0B0F17"/>
                </a:solidFill>
                <a:latin typeface="Calibri"/>
              </a:rPr>
              <a:t>salary under the minimum · salary above the ceiling · a foreigner · someone not on the approved researcher list · someone already on another grant · an HR job title · an unclear job title · a mid-month joiner · a mid-month leaver · a new hire with no hours logged · a missing payslip · hours above what the month allows · one person's name spelled two different ways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What the 33 questions do and do not prove: they ran with no model attached, so they show the system will not put an unsupported number in front of HR — they do not grade how well a model writes. Grading that needs our own server's model connected. Nine of the 13 planted cases have their own automated test; the other four are covered by the end-to-end checks.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3946-834E-0745-58BB-187595DF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D7CC0-C921-3726-8D85-9A227277EE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Models used &amp; why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C277FA-2DB6-7123-FF12-D803FC93C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7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926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310896"/>
            <a:ext cx="1078992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>
                <a:solidFill>
                  <a:srgbClr val="0B0F17"/>
                </a:solidFill>
                <a:latin typeface="Calibri"/>
              </a:rPr>
              <a:t>Provider-agnostic, schema-constrained, replay 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7" y="1313429"/>
            <a:ext cx="6281928" cy="3516127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5" y="1708404"/>
            <a:ext cx="6080760" cy="2506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dirty="0">
                <a:solidFill>
                  <a:srgbClr val="7FB0E0"/>
                </a:solidFill>
                <a:latin typeface="Consolas"/>
              </a:rPr>
              <a:t># </a:t>
            </a:r>
            <a:r>
              <a:rPr sz="1150" dirty="0" err="1">
                <a:solidFill>
                  <a:srgbClr val="7FB0E0"/>
                </a:solidFill>
                <a:latin typeface="Consolas"/>
              </a:rPr>
              <a:t>llm</a:t>
            </a:r>
            <a:r>
              <a:rPr sz="1150" dirty="0">
                <a:solidFill>
                  <a:srgbClr val="7FB0E0"/>
                </a:solidFill>
                <a:latin typeface="Consolas"/>
              </a:rPr>
              <a:t>/</a:t>
            </a:r>
            <a:r>
              <a:rPr sz="1150" dirty="0" err="1">
                <a:solidFill>
                  <a:srgbClr val="7FB0E0"/>
                </a:solidFill>
                <a:latin typeface="Consolas"/>
              </a:rPr>
              <a:t>client.py</a:t>
            </a:r>
            <a:endParaRPr sz="1150" dirty="0">
              <a:solidFill>
                <a:srgbClr val="7FB0E0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def call(self, prompt, *, schema=None,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source_ref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=None,</a:t>
            </a: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        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confidence_hint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=None) -&gt;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LLMResult</a:t>
            </a: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 err="1">
                <a:solidFill>
                  <a:srgbClr val="D7E3F4"/>
                </a:solidFill>
                <a:latin typeface="Consolas"/>
              </a:rPr>
              <a:t>cache_key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= sha256(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canonical_json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(prompt, model, schema))</a:t>
            </a: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  #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source_ref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persisted but EXCLUDED from the key</a:t>
            </a:r>
          </a:p>
          <a:p>
            <a:pPr>
              <a:spcAft>
                <a:spcPts val="200"/>
              </a:spcAft>
            </a:pP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transport: injected (tests) &gt;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openai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(enabled) &gt; None</a:t>
            </a: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no transport -&gt; typed 'unavailable'. call() NEVER raises.</a:t>
            </a:r>
          </a:p>
          <a:p>
            <a:pPr>
              <a:spcAft>
                <a:spcPts val="200"/>
              </a:spcAft>
            </a:pP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>
                <a:solidFill>
                  <a:srgbClr val="D7E3F4"/>
                </a:solidFill>
                <a:latin typeface="Consolas"/>
              </a:rPr>
              <a:t>temperature = 0.</a:t>
            </a:r>
            <a:r>
              <a:rPr lang="en-US" sz="1150" dirty="0">
                <a:solidFill>
                  <a:srgbClr val="D7E3F4"/>
                </a:solidFill>
                <a:latin typeface="Consolas"/>
              </a:rPr>
              <a:t>0</a:t>
            </a:r>
            <a:endParaRPr sz="1150" dirty="0">
              <a:solidFill>
                <a:srgbClr val="D7E3F4"/>
              </a:solidFill>
              <a:latin typeface="Consolas"/>
            </a:endParaRPr>
          </a:p>
          <a:p>
            <a:pPr>
              <a:spcAft>
                <a:spcPts val="200"/>
              </a:spcAft>
            </a:pPr>
            <a:r>
              <a:rPr sz="1150" dirty="0" err="1">
                <a:solidFill>
                  <a:srgbClr val="D7E3F4"/>
                </a:solidFill>
                <a:latin typeface="Consolas"/>
              </a:rPr>
              <a:t>response_format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 = </a:t>
            </a:r>
            <a:r>
              <a:rPr sz="1150" dirty="0" err="1">
                <a:solidFill>
                  <a:srgbClr val="D7E3F4"/>
                </a:solidFill>
                <a:latin typeface="Consolas"/>
              </a:rPr>
              <a:t>json_schema</a:t>
            </a:r>
            <a:r>
              <a:rPr sz="1150" dirty="0">
                <a:solidFill>
                  <a:srgbClr val="D7E3F4"/>
                </a:solidFill>
                <a:latin typeface="Consolas"/>
              </a:rPr>
              <a:t>, strict: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9964" y="1114235"/>
            <a:ext cx="4251099" cy="5283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dirty="0">
                <a:solidFill>
                  <a:srgbClr val="1F4E79"/>
                </a:solidFill>
                <a:latin typeface="Calibri"/>
              </a:rPr>
              <a:t>▸  </a:t>
            </a:r>
            <a:r>
              <a:rPr b="1" dirty="0">
                <a:solidFill>
                  <a:srgbClr val="0B0F17"/>
                </a:solidFill>
                <a:latin typeface="Calibri"/>
              </a:rPr>
              <a:t>The honest determinism claim.  </a:t>
            </a:r>
            <a:r>
              <a:rPr dirty="0">
                <a:solidFill>
                  <a:srgbClr val="0B0F17"/>
                </a:solidFill>
                <a:latin typeface="Calibri"/>
              </a:rPr>
              <a:t>Temperature 0 </a:t>
            </a:r>
            <a:r>
              <a:rPr dirty="0" err="1">
                <a:solidFill>
                  <a:srgbClr val="0B0F17"/>
                </a:solidFill>
                <a:latin typeface="Calibri"/>
              </a:rPr>
              <a:t>maximises</a:t>
            </a:r>
            <a:r>
              <a:rPr dirty="0">
                <a:solidFill>
                  <a:srgbClr val="0B0F17"/>
                </a:solidFill>
                <a:latin typeface="Calibri"/>
              </a:rPr>
              <a:t> stability but GPU inference is not bit-exact. The cache-and-replay log is the actual determinism guarantee — and because </a:t>
            </a:r>
            <a:r>
              <a:rPr dirty="0" err="1">
                <a:solidFill>
                  <a:srgbClr val="0B0F17"/>
                </a:solidFill>
                <a:latin typeface="Calibri"/>
              </a:rPr>
              <a:t>source_ref</a:t>
            </a:r>
            <a:r>
              <a:rPr dirty="0">
                <a:solidFill>
                  <a:srgbClr val="0B0F17"/>
                </a:solidFill>
                <a:latin typeface="Calibri"/>
              </a:rPr>
              <a:t> is outside the cache key, the same question about the same figure replays identically regardless of which document surfaced it.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1F4E79"/>
                </a:solidFill>
                <a:latin typeface="Calibri"/>
              </a:rPr>
              <a:t>▸  </a:t>
            </a:r>
            <a:r>
              <a:rPr b="1" dirty="0">
                <a:solidFill>
                  <a:srgbClr val="0B0F17"/>
                </a:solidFill>
                <a:latin typeface="Calibri"/>
              </a:rPr>
              <a:t>Graceful degradation is a feature, not a fallback.  </a:t>
            </a:r>
            <a:r>
              <a:rPr dirty="0">
                <a:solidFill>
                  <a:srgbClr val="0B0F17"/>
                </a:solidFill>
                <a:latin typeface="Calibri"/>
              </a:rPr>
              <a:t>The deterministic pipeline is the product; the model is an assistant on top of it. </a:t>
            </a:r>
            <a:r>
              <a:rPr dirty="0" err="1">
                <a:solidFill>
                  <a:srgbClr val="0B0F17"/>
                </a:solidFill>
                <a:latin typeface="Calibri"/>
              </a:rPr>
              <a:t>test_no_endpoint_still_replays_cache</a:t>
            </a:r>
            <a:r>
              <a:rPr dirty="0">
                <a:solidFill>
                  <a:srgbClr val="0B0F17"/>
                </a:solidFill>
                <a:latin typeface="Calibri"/>
              </a:rPr>
              <a:t> pins that.</a:t>
            </a:r>
          </a:p>
          <a:p>
            <a:pPr>
              <a:spcAft>
                <a:spcPts val="800"/>
              </a:spcAft>
            </a:pPr>
            <a:r>
              <a:rPr b="1" dirty="0">
                <a:solidFill>
                  <a:srgbClr val="1F4E79"/>
                </a:solidFill>
                <a:latin typeface="Calibri"/>
              </a:rPr>
              <a:t>▸  </a:t>
            </a:r>
            <a:r>
              <a:rPr b="1" dirty="0">
                <a:solidFill>
                  <a:srgbClr val="0B0F17"/>
                </a:solidFill>
                <a:latin typeface="Calibri"/>
              </a:rPr>
              <a:t>Four schemas, no prompt files.  </a:t>
            </a:r>
            <a:r>
              <a:rPr dirty="0">
                <a:solidFill>
                  <a:srgbClr val="0B0F17"/>
                </a:solidFill>
                <a:latin typeface="Calibri"/>
              </a:rPr>
              <a:t>_EXTRACT_SCHEMA, _JUDGE_SCHEMA, _MATCH_SCHEMA, _ANSWER_SCHEMA. Prompts are inline functions, versioned with the code that depends on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0BE1-A4BE-7DDF-D3D3-97AA5DC4B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C3C4-6F65-47DC-88EC-AEBD816C1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3F91D-3DF4-097E-8897-80466911FC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85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1E0E-B20B-CF49-3445-B839BD10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On-prem deployment — offline-capable by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4934" y="1412199"/>
            <a:ext cx="10977372" cy="3435949"/>
          </a:xfrm>
          <a:prstGeom prst="rect">
            <a:avLst/>
          </a:prstGeom>
          <a:noFill/>
          <a:ln w="15875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4934" y="1467063"/>
            <a:ext cx="109773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ST ENGINEERING ON-PREM HOST  —  SALARY DATA NEVER LEAVES THE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906158"/>
            <a:ext cx="11201400" cy="31750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951878"/>
            <a:ext cx="11201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B54708"/>
                </a:solidFill>
                <a:latin typeface="Calibri"/>
              </a:rPr>
              <a:t>EVERYTHING ABOVE IS SHIPPED AND RUNNING — everything below is hardening we would add for a production pilot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8962" y="1746869"/>
            <a:ext cx="2128266" cy="669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114" y="1792589"/>
            <a:ext cx="1981962" cy="577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3355E"/>
                </a:solidFill>
                <a:latin typeface="Calibri"/>
              </a:rPr>
              <a:t>HR browser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React 18 SPA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same origin, relative /api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5284" y="1746869"/>
            <a:ext cx="3136392" cy="6693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8436" y="1792589"/>
            <a:ext cx="2990088" cy="577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3355E"/>
                </a:solidFill>
                <a:latin typeface="Calibri"/>
              </a:rPr>
              <a:t>uvicorn + FastAPI  ·  127.0.0.1:8010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run_web.sh — serves webui/dist at 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NDJSON progress stream on /api/analyze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9732" y="1746869"/>
            <a:ext cx="2464308" cy="66934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2884" y="1792589"/>
            <a:ext cx="2318004" cy="577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run_pipeline()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the deterministic core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no network calls, 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962" y="2817815"/>
            <a:ext cx="2912364" cy="758586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114" y="2863535"/>
            <a:ext cx="2766060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edb_claim.db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one SQLite file · 16 tables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312 evidence refs · 238 gate results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EDB_DB_PATH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9732" y="2817815"/>
            <a:ext cx="2464308" cy="758586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2884" y="2863535"/>
            <a:ext cx="2318004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105024"/>
                </a:solidFill>
                <a:latin typeface="Calibri"/>
              </a:rPr>
              <a:t>xlsx artifacts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EDB template · SOE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Issues to fix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written to disk, never uploaded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5284" y="3978005"/>
            <a:ext cx="3808476" cy="758586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8436" y="4023725"/>
            <a:ext cx="3662172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7A2F05"/>
                </a:solidFill>
                <a:latin typeface="Calibri"/>
              </a:rPr>
              <a:t>vLLM  ·  OpenAI-compatible  ·  :8000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Qwen 3.6 35B A3B on the NVIDIA DGX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EDB_LLM_BASE_URL · EDB_LLM_MODEL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36 responses cached from this endpoint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71816" y="3978005"/>
            <a:ext cx="3584448" cy="7585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4023725"/>
            <a:ext cx="3438144" cy="66714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5A6472"/>
                </a:solidFill>
                <a:latin typeface="Calibri"/>
              </a:rPr>
              <a:t>Offline is a supported mode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unset EDB_LLM_BASE_URL and the pipeline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is unchanged — every figure is Python.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The assistant still answers from stored rows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962" y="5182819"/>
            <a:ext cx="10417302" cy="4016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114" y="5228539"/>
            <a:ext cx="10270998" cy="3101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5A6472"/>
                </a:solidFill>
                <a:latin typeface="Calibri"/>
              </a:rPr>
              <a:t>PROPOSED — not shipped in the POC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systemd unit or container image for restart-on-boot  ·  nightly copy of the single .db file  ·  reverse proxy + SSO if the app is ever opened beyond localhost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047" y="2081540"/>
            <a:ext cx="291237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38145" y="1843796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1">
                <a:solidFill>
                  <a:srgbClr val="1F4E79"/>
                </a:solidFill>
                <a:latin typeface="Calibri"/>
              </a:rPr>
              <a:t>/api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08495" y="2081540"/>
            <a:ext cx="291237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31885" y="2478682"/>
            <a:ext cx="0" cy="276661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31885" y="2478682"/>
            <a:ext cx="0" cy="13833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295144" y="2617012"/>
            <a:ext cx="5936741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95144" y="2617012"/>
            <a:ext cx="0" cy="138331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83480" y="2478682"/>
            <a:ext cx="0" cy="1436851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47488" y="30873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1">
                <a:solidFill>
                  <a:srgbClr val="B54708"/>
                </a:solidFill>
                <a:latin typeface="Calibri"/>
              </a:rPr>
              <a:t>optional  ·  temperature 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Shipped as scripts, not containers: run_web.sh builds webui/dist and serves it from the same uvicorn process as /api, so the SPA is same-origin and no claim data ever leaves the host. The db carries a vec0 table for future semantic retrieval; today retrieval is lexical (T23 open).</a:t>
            </a:r>
          </a:p>
        </p:txBody>
      </p:sp>
    </p:spTree>
    <p:extLst>
      <p:ext uri="{BB962C8B-B14F-4D97-AF65-F5344CB8AC3E}">
        <p14:creationId xmlns:p14="http://schemas.microsoft.com/office/powerpoint/2010/main" val="1487111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44DA6-9076-C8C5-DB5E-13D6BBFE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7AAC-5740-1C96-02C2-29D5AC5FC1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Impact of the solution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008FA-5EB6-3BC7-E28A-FB6B458B77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06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ABB3-D248-15D1-B563-1838E2169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What changes for HR, and for the auditor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64208"/>
            <a:ext cx="516636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Manual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21408"/>
            <a:ext cx="5166360" cy="361188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67712"/>
            <a:ext cx="478231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Weeks of spreadsheet work per claim, repeated per entity and per month.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The rate, the S$20,000 cap or an exclusion is easy to mis-apply — and hard to notice afterwards.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Evidence is assembled at audit time, by hand, from whatever files can still be found.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"Where did this number come from?" is a research task.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A missing payslip is discovered late, by the auditor.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Two calculation methods disagree quietly, in someone's working copy.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664208"/>
            <a:ext cx="5166360" cy="457200"/>
          </a:xfrm>
          <a:prstGeom prst="rect">
            <a:avLst/>
          </a:prstGeom>
          <a:solidFill>
            <a:srgbClr val="13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664208"/>
            <a:ext cx="4983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With this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121408"/>
            <a:ext cx="5166360" cy="3611880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267712"/>
            <a:ext cx="4782312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Upload to audit-ready submission pack in minutes, and repeatable on demand.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The scheme rules are encoded once, in config, and applied to every person identically.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312 evidence references are captured as the workbooks are parsed — the pack is assembled, not reconstructed.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Any figure is one click from its file, sheet and cell — the same trail the Practitioner samples.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The document check blocks the claim until the gap is fixed or explicitly acknowledged.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F4E79"/>
                </a:solidFill>
                <a:latin typeface="Calibri"/>
              </a:rPr>
              <a:t>▸  </a:t>
            </a:r>
            <a:r>
              <a:rPr sz="1050">
                <a:solidFill>
                  <a:srgbClr val="0B0F17"/>
                </a:solidFill>
                <a:latin typeface="Calibri"/>
              </a:rPr>
              <a:t>Method A is submitted, Method B cross-checks it, and the variance is reported before the auditor sees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9788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Verified on the running system: 131 automated tests across 15 files · Method A pinned to EDB's own published worked example to the cent · $492,934.55 total claim across 14 qualifying staff on the synthetic dataset at the 60% support rate · 33/33 assistant probes emitted zero unsupported figures.</a:t>
            </a:r>
          </a:p>
        </p:txBody>
      </p:sp>
    </p:spTree>
    <p:extLst>
      <p:ext uri="{BB962C8B-B14F-4D97-AF65-F5344CB8AC3E}">
        <p14:creationId xmlns:p14="http://schemas.microsoft.com/office/powerpoint/2010/main" val="2194550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5B220-5A43-B03D-1563-72ABFCEF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1098-221A-C015-E395-A3D2AC186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 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C001-BB1A-3110-E3EB-5D4069E66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71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CBEE-1CED-80CE-571D-C99D07D7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B2D945-BE6D-E44F-01E1-E4D1CDF50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0FE97B-7BEF-242D-5EA4-55CD2EA38D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65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CBED6-54DE-7B98-9525-D752F06D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4664-EEF6-9331-DA67-008AA6D83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Scope of improvement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4D9F-B706-B3F0-B672-F45FC1784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34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D81C3-067C-2ACB-45C2-F74654E6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What we would build next, in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Semantic retrieval (T23).  </a:t>
            </a:r>
            <a:r>
              <a:rPr sz="1450">
                <a:solidFill>
                  <a:srgbClr val="0B0F17"/>
                </a:solidFill>
                <a:latin typeface="Calibri"/>
              </a:rPr>
              <a:t>The store already carries a sqlite-vec vec0 table sized for 384-dimension embeddings; today the narrative path is lexical over a curated knowledge base. Computing embeddings turns it semantic without changing the figure path, which stays exact SQL.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The remaining three eval scorers (T24).  </a:t>
            </a:r>
            <a:r>
              <a:rPr sz="1450">
                <a:solidFill>
                  <a:srgbClr val="0B0F17"/>
                </a:solidFill>
                <a:latin typeface="Calibri"/>
              </a:rPr>
              <a:t>Groundedness is implemented and scores 33/33; extraction, designation and reconciliation are registered as explicit stubs, so completing them is an addition rather than a refactor.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Run manifest and a determinism harness (T13).  </a:t>
            </a:r>
            <a:r>
              <a:rPr sz="1450">
                <a:solidFill>
                  <a:srgbClr val="0B0F17"/>
                </a:solidFill>
                <a:latin typeface="Calibri"/>
              </a:rPr>
              <a:t>Persist config hash, support rate and code version per run so a re-run can be proven identical rather than assumed identical.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Widen what is persisted.  </a:t>
            </a:r>
            <a:r>
              <a:rPr sz="1450">
                <a:solidFill>
                  <a:srgbClr val="0B0F17"/>
                </a:solidFill>
                <a:latin typeface="Calibri"/>
              </a:rPr>
              <a:t>Per-month salary rows and the LLM call log are schema-complete but not yet written on the API path.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Roll out across all entities.  </a:t>
            </a:r>
            <a:r>
              <a:rPr sz="1450">
                <a:solidFill>
                  <a:srgbClr val="0B0F17"/>
                </a:solidFill>
                <a:latin typeface="Calibri"/>
              </a:rPr>
              <a:t>The POC runs two synthetic entities; the config carries all 18. Next is a real entity's FY2026 H1 data end to end.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Read from the source systems.  </a:t>
            </a:r>
            <a:r>
              <a:rPr sz="1450">
                <a:solidFill>
                  <a:srgbClr val="0B0F17"/>
                </a:solidFill>
                <a:latin typeface="Calibri"/>
              </a:rPr>
              <a:t>Replace workbook upload with an HR/payroll feed, so the re-keying disappears rather than being validated.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Harden the deployment.  </a:t>
            </a:r>
            <a:r>
              <a:rPr sz="1450">
                <a:solidFill>
                  <a:srgbClr val="0B0F17"/>
                </a:solidFill>
                <a:latin typeface="Calibri"/>
              </a:rPr>
              <a:t>A systemd unit or container image, a backup of the single database file, and a live-model evaluation run once the DGX endpoint is reachable again.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870448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6188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Two scheme questions are still open with EDB and the auditor, and are carried in config rather than decided in code: which method governs every edge case, and whether public holidays reduce working days.</a:t>
            </a:r>
          </a:p>
        </p:txBody>
      </p:sp>
    </p:spTree>
    <p:extLst>
      <p:ext uri="{BB962C8B-B14F-4D97-AF65-F5344CB8AC3E}">
        <p14:creationId xmlns:p14="http://schemas.microsoft.com/office/powerpoint/2010/main" val="3878520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8668-9D9F-3903-273D-475016DD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F0061-2D82-ED05-FDD6-75EDC90A00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75B01-3CD0-3C16-D029-E10BF8717D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4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E246-537D-3BFD-170F-C0FE9A05A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What building this actually taught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A boundary has to be a test, not a docstring.  </a:t>
            </a:r>
            <a:r>
              <a:rPr sz="1450">
                <a:solidFill>
                  <a:srgbClr val="0B0F17"/>
                </a:solidFill>
                <a:latin typeface="Calibri"/>
              </a:rPr>
              <a:t>"The LLM never computes a figure" is only true if something enforces it — so three tests import the calculation and validation packages in a subprocess and assert no LLM module ever reaches sys.modules.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Temperature 0 is not determinism.  </a:t>
            </a:r>
            <a:r>
              <a:rPr sz="1450">
                <a:solidFill>
                  <a:srgbClr val="0B0F17"/>
                </a:solidFill>
                <a:latin typeface="Calibri"/>
              </a:rPr>
              <a:t>GPU inference is not bit-exact. The real guarantee is the cache-and-replay log keyed on a hash of prompt, model and schema — so the same question replays identically.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Replicate the source system's quirks; do not fix them.  </a:t>
            </a:r>
            <a:r>
              <a:rPr sz="1450">
                <a:solidFill>
                  <a:srgbClr val="0B0F17"/>
                </a:solidFill>
                <a:latin typeface="Calibri"/>
              </a:rPr>
              <a:t>The internal sheet gives new hires 100% time and labels a monthly figure "annual". Reproducing both is what makes reconciliation meaningful — the variance report is where the disagreement belongs.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Anchor to someone else's answer.  </a:t>
            </a:r>
            <a:r>
              <a:rPr sz="1450">
                <a:solidFill>
                  <a:srgbClr val="0B0F17"/>
                </a:solidFill>
                <a:latin typeface="Calibri"/>
              </a:rPr>
              <a:t>EDB publishes a worked example. Pinning Method A to it to the cent caught more real bugs than any hand-written expectation would have.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Low confidence is information, not noise.  </a:t>
            </a:r>
            <a:r>
              <a:rPr sz="1450">
                <a:solidFill>
                  <a:srgbClr val="0B0F17"/>
                </a:solidFill>
                <a:latin typeface="Calibri"/>
              </a:rPr>
              <a:t>Surfacing a weak answer with a plain-language reason keeps a financial system out of black-box territory; discarding it hides the very case a human should see.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1F4E79"/>
                </a:solidFill>
                <a:latin typeface="Calibri"/>
              </a:rPr>
              <a:t>▸  </a:t>
            </a:r>
            <a:r>
              <a:rPr sz="1450" b="1">
                <a:solidFill>
                  <a:srgbClr val="0B0F17"/>
                </a:solidFill>
                <a:latin typeface="Calibri"/>
              </a:rPr>
              <a:t>Design for the auditor, not the demo.  </a:t>
            </a:r>
            <a:r>
              <a:rPr sz="1450">
                <a:solidFill>
                  <a:srgbClr val="0B0F17"/>
                </a:solidFill>
                <a:latin typeface="Calibri"/>
              </a:rPr>
              <a:t>"Show me where this came from" shaped the data model far more than any UI decision did — evidence is threaded from the parser because it cannot be recovered later.</a:t>
            </a:r>
          </a:p>
        </p:txBody>
      </p:sp>
    </p:spTree>
    <p:extLst>
      <p:ext uri="{BB962C8B-B14F-4D97-AF65-F5344CB8AC3E}">
        <p14:creationId xmlns:p14="http://schemas.microsoft.com/office/powerpoint/2010/main" val="19991806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0A73-22AF-0C24-E396-5C55057A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E7D03-631A-221D-22CE-2834014DBF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1E9DD-AB7A-ABB4-8697-941703DB57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86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162A4-C21F-7EDC-82D5-64CDBB19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A POC that is finished, honest about its edges, and ready to 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64208"/>
            <a:ext cx="3401568" cy="420624"/>
          </a:xfrm>
          <a:prstGeom prst="rect">
            <a:avLst/>
          </a:prstGeom>
          <a:solidFill>
            <a:srgbClr val="1A7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1664208"/>
            <a:ext cx="3218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VERIFIED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84832"/>
            <a:ext cx="3401568" cy="236829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212848"/>
            <a:ext cx="305409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131 tests across 15 files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Method A pinned to EDB's published worked example, to the cent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$492,934.55 claimed across 14 qualifying staff on the synthetic set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312 evidence references, each one click from its cell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33/33 assistant probes with zero unsupported figures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A7F37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Runs on-prem, offline, with no external call on claim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370832" y="1664208"/>
            <a:ext cx="3401568" cy="420624"/>
          </a:xfrm>
          <a:prstGeom prst="rect">
            <a:avLst/>
          </a:prstGeom>
          <a:solidFill>
            <a:srgbClr val="B547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8848" y="1664208"/>
            <a:ext cx="3218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 — DECISIONS, NOT MISSING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2084832"/>
            <a:ext cx="3401568" cy="236829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212848"/>
            <a:ext cx="305409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Which method governs every edge case (EDB ruling pending)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Whether public holidays reduce working days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The auditor's confirmed document list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B54708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Both are carried in config and reported, never silently resolved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1664208"/>
            <a:ext cx="3401568" cy="420624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664208"/>
            <a:ext cx="32186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18704" y="2084832"/>
            <a:ext cx="3401568" cy="2368296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2212848"/>
            <a:ext cx="3054096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Pilot on one real entity's FY2026 H1 data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Semantic retrieval and the three remaining eval scorers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Run manifest for provable re-runs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▸  </a:t>
            </a:r>
            <a:r>
              <a:rPr sz="950">
                <a:solidFill>
                  <a:srgbClr val="0B0F17"/>
                </a:solidFill>
                <a:latin typeface="Calibri"/>
              </a:rPr>
              <a:t>Rollout across all participating entities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solidFill>
            <a:srgbClr val="0B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10515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Upload to audit-ready submission — deterministic, evidence-complete, and entirely on-prem.</a:t>
            </a:r>
          </a:p>
        </p:txBody>
      </p:sp>
    </p:spTree>
    <p:extLst>
      <p:ext uri="{BB962C8B-B14F-4D97-AF65-F5344CB8AC3E}">
        <p14:creationId xmlns:p14="http://schemas.microsoft.com/office/powerpoint/2010/main" val="291207501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Data flow — one upload to a submission pack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6948" y="1657624"/>
            <a:ext cx="1680210" cy="535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0100" y="1703344"/>
            <a:ext cx="1533906" cy="444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3355E"/>
                </a:solidFill>
                <a:latin typeface="Calibri"/>
              </a:rPr>
              <a:t>Upload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xlsx · multipart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or sample mode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657624"/>
            <a:ext cx="1904238" cy="53547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16352" y="1703344"/>
            <a:ext cx="1757934" cy="444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Ingest ×3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timesheet · rse_list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payroll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657624"/>
            <a:ext cx="1904238" cy="53547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6632" y="1703344"/>
            <a:ext cx="1757934" cy="444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Completeness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19 DocTypes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person-month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57624"/>
            <a:ext cx="1904238" cy="53547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1703344"/>
            <a:ext cx="1757934" cy="444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Gates G1–G7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+ 4 cross-checks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(warnings only)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657624"/>
            <a:ext cx="1792224" cy="535472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1703344"/>
            <a:ext cx="1645920" cy="444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Verdict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EXCLUDED &gt;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BLOCKED &gt; QUALIFIES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907060"/>
            <a:ext cx="3584448" cy="6693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2952780"/>
            <a:ext cx="3438144" cy="577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calc/ — both engines, every claim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 A · EDB pro-ration -&gt; SUBMITTED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Method B · internal hours ratio -&gt; CROSS-CHECK 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2907060"/>
            <a:ext cx="2240280" cy="669340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952780"/>
            <a:ext cx="2093976" cy="5779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Variance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Δ$ · Δ%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New-Hire B&gt;A flag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&gt;1% material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962" y="4513478"/>
            <a:ext cx="2352294" cy="580095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114" y="4559198"/>
            <a:ext cx="2205990" cy="488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05024"/>
                </a:solidFill>
                <a:latin typeface="Calibri"/>
              </a:rPr>
              <a:t>EDB template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official RIS(C) v1.1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formulas + hidden cols kept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5284" y="4513478"/>
            <a:ext cx="2352294" cy="580095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8436" y="4559198"/>
            <a:ext cx="2205990" cy="488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05024"/>
                </a:solidFill>
                <a:latin typeface="Calibri"/>
              </a:rPr>
              <a:t>SOE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6 sheets · evidence trail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for the Practitioner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1606" y="4513478"/>
            <a:ext cx="2352294" cy="580095"/>
          </a:xfrm>
          <a:prstGeom prst="roundRect">
            <a:avLst/>
          </a:prstGeom>
          <a:solidFill>
            <a:srgbClr val="EAF6EE"/>
          </a:solidFill>
          <a:ln w="12700">
            <a:solidFill>
              <a:srgbClr val="1A7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4758" y="4559198"/>
            <a:ext cx="2205990" cy="488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105024"/>
                </a:solidFill>
                <a:latin typeface="Calibri"/>
              </a:rPr>
              <a:t>Issues to fix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everyone not yet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claimable, with reasons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4513478"/>
            <a:ext cx="2352294" cy="580095"/>
          </a:xfrm>
          <a:prstGeom prst="roundRect">
            <a:avLst/>
          </a:prstGeom>
          <a:solidFill>
            <a:srgbClr val="EAF0F7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4559198"/>
            <a:ext cx="2205990" cy="4886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0B0F17"/>
                </a:solidFill>
                <a:latin typeface="Calibri"/>
              </a:rPr>
              <a:t>SQLite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persist_result()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best-effort, never fatal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07158" y="1925360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47438" y="1925360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87717" y="1925360"/>
            <a:ext cx="336043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27998" y="1925360"/>
            <a:ext cx="336042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75879" y="2255568"/>
            <a:ext cx="0" cy="58902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24747" y="3241730"/>
            <a:ext cx="291237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775704" y="3638873"/>
            <a:ext cx="0" cy="406066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2015109" y="4044939"/>
            <a:ext cx="4760595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015109" y="4044939"/>
            <a:ext cx="0" cy="406067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75704" y="3638873"/>
            <a:ext cx="0" cy="406066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591431" y="4044939"/>
            <a:ext cx="2184273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591431" y="4044939"/>
            <a:ext cx="0" cy="406067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360152" y="2255568"/>
            <a:ext cx="0" cy="1097719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167753" y="3353287"/>
            <a:ext cx="3192399" cy="0"/>
          </a:xfrm>
          <a:prstGeom prst="line">
            <a:avLst/>
          </a:prstGeom>
          <a:ln w="158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67753" y="3353287"/>
            <a:ext cx="0" cy="1097719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136124" y="3638873"/>
            <a:ext cx="0" cy="812133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A parse failure never aborts the run: explain_ingest_error() classifies it and returns an HR-readable why+fix into PipelineResult.errors.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10896"/>
            <a:ext cx="1078992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F17"/>
                </a:solidFill>
                <a:latin typeface="Calibri"/>
              </a:rPr>
              <a:t>The LLM proposes, the deterministic engine disposes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26948" y="1613001"/>
            <a:ext cx="3360420" cy="3034344"/>
          </a:xfrm>
          <a:prstGeom prst="rect">
            <a:avLst/>
          </a:prstGeom>
          <a:noFill/>
          <a:ln w="15875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6948" y="1667865"/>
            <a:ext cx="33604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llm/ — PROPOSES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9872" y="1613001"/>
            <a:ext cx="3360420" cy="3034344"/>
          </a:xfrm>
          <a:prstGeom prst="rect">
            <a:avLst/>
          </a:prstGeom>
          <a:noFill/>
          <a:ln w="15875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19872" y="1667865"/>
            <a:ext cx="33604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1">
                <a:solidFill>
                  <a:srgbClr val="5A6472"/>
                </a:solidFill>
                <a:latin typeface="Calibri"/>
              </a:rPr>
              <a:t>DETERMINISTIC — SEALED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83830" y="156837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83830" y="181988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83830" y="207139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83830" y="232290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83830" y="257441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83830" y="282592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83830" y="307743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3830" y="3328948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83830" y="3580457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83830" y="3831967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83830" y="4083477"/>
            <a:ext cx="31750" cy="1828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16902" y="4468855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50" b="1">
                <a:solidFill>
                  <a:srgbClr val="B42318"/>
                </a:solidFill>
                <a:latin typeface="Calibri"/>
              </a:rPr>
              <a:t>NO IMPORT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6983" y="2014606"/>
            <a:ext cx="2800350" cy="446227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0135" y="2060326"/>
            <a:ext cx="2654046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extract.py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FR-9 payslip fields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+ confidence + 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983" y="2594701"/>
            <a:ext cx="2800350" cy="446227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0135" y="2640421"/>
            <a:ext cx="2654046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designation.py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FR-10 G5 judging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borderline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6983" y="3174796"/>
            <a:ext cx="2800350" cy="446227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0135" y="3220516"/>
            <a:ext cx="2654046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reconcile.py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FR-11 name variants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exact-ID auto-accepts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6983" y="3754892"/>
            <a:ext cx="2800350" cy="446227"/>
          </a:xfrm>
          <a:prstGeom prst="roundRect">
            <a:avLst/>
          </a:prstGeom>
          <a:solidFill>
            <a:srgbClr val="FDF3E3"/>
          </a:solidFill>
          <a:ln w="12700">
            <a:solidFill>
              <a:srgbClr val="B547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0135" y="3800612"/>
            <a:ext cx="2654046" cy="3547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00" b="1">
                <a:solidFill>
                  <a:srgbClr val="7A2F05"/>
                </a:solidFill>
                <a:latin typeface="Calibri"/>
              </a:rPr>
              <a:t>qa.py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FR-12 audit Q&amp;A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router + groundedness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9452" y="2103851"/>
            <a:ext cx="2688336" cy="1963399"/>
          </a:xfrm>
          <a:prstGeom prst="roundRect">
            <a:avLst/>
          </a:prstGeom>
          <a:solidFill>
            <a:srgbClr val="F1F5FA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2604" y="2149571"/>
            <a:ext cx="2542032" cy="18719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0B0F17"/>
                </a:solidFill>
                <a:latin typeface="Calibri"/>
              </a:rPr>
              <a:t>ingest/ + validate/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accepts ADVISORIES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· mismatch flags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· needs_review marks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· HR confirmation queue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5A6472"/>
                </a:solidFill>
                <a:latin typeface="Calibri"/>
              </a:rPr>
              <a:t>never a figure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9907" y="2103851"/>
            <a:ext cx="2800350" cy="89245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3059" y="2149571"/>
            <a:ext cx="2654046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calc/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method_a · method_b · variance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ALL arithmetic happens here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99907" y="3174796"/>
            <a:ext cx="2800350" cy="892454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33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3059" y="3220516"/>
            <a:ext cx="2654046" cy="80101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output/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edb_writer · soe · reports</a:t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/>
            </a:r>
          </a:p>
          <a:p>
            <a:pPr algn="ctr">
              <a:spcAft>
                <a:spcPts val="100"/>
              </a:spcAft>
            </a:pPr>
            <a:r>
              <a:rPr sz="819" b="0">
                <a:solidFill>
                  <a:srgbClr val="C8D6E8"/>
                </a:solidFill>
                <a:latin typeface="Calibri"/>
              </a:rPr>
              <a:t>ALL figures written here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64152" y="2237719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964152" y="2817815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964152" y="3397910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964152" y="3978005"/>
            <a:ext cx="638480" cy="0"/>
          </a:xfrm>
          <a:prstGeom prst="line">
            <a:avLst/>
          </a:prstGeom>
          <a:ln w="15875">
            <a:solidFill>
              <a:srgbClr val="B5470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551872" y="3740261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800" b="1">
                <a:solidFill>
                  <a:srgbClr val="B54708"/>
                </a:solidFill>
                <a:latin typeface="Calibri"/>
              </a:rPr>
              <a:t>reads only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04607" y="2550078"/>
            <a:ext cx="638480" cy="0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00082" y="3058777"/>
            <a:ext cx="0" cy="116019"/>
          </a:xfrm>
          <a:prstGeom prst="line">
            <a:avLst/>
          </a:prstGeom>
          <a:ln w="15875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26948" y="4825837"/>
            <a:ext cx="10835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5A6472"/>
                </a:solidFill>
                <a:latin typeface="Calibri"/>
              </a:rPr>
              <a:t>GUARDRAILS   </a:t>
            </a:r>
            <a:r>
              <a:rPr sz="950" b="0">
                <a:solidFill>
                  <a:srgbClr val="0B0F17"/>
                </a:solidFill>
                <a:latin typeface="Calibri"/>
              </a:rPr>
              <a:t>temperature = 0.0 ·  response_format = json_schema, strict: True ·  sha256(prompt, model, schema) cache-and-replay ·  call() never raises into the pipeline ·  cache-replay is the determinism guarantee — not temperature (GPU is not bit-exact)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The boundary is a test, not a docstring: three tests import calc/ and validate/ in a subprocess and assert no edb_claim.llm* module ever reaches sys.modules.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971</Words>
  <Application>Microsoft Macintosh PowerPoint</Application>
  <PresentationFormat>Widescreen</PresentationFormat>
  <Paragraphs>104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Consolas</vt:lpstr>
      <vt:lpstr>Office Theme</vt:lpstr>
      <vt:lpstr>Problem Statement</vt:lpstr>
      <vt:lpstr>PowerPoint Presentation</vt:lpstr>
      <vt:lpstr>Solution</vt:lpstr>
      <vt:lpstr>PowerPoint Presentation</vt:lpstr>
      <vt:lpstr>Mental Model</vt:lpstr>
      <vt:lpstr>PowerPoint Presentation</vt:lpstr>
      <vt:lpstr>Overall Workflow</vt:lpstr>
      <vt:lpstr>PowerPoint Presentation</vt:lpstr>
      <vt:lpstr>Architecture</vt:lpstr>
      <vt:lpstr>PowerPoint Presentation</vt:lpstr>
      <vt:lpstr>DB Schema</vt:lpstr>
      <vt:lpstr>PowerPoint Presentation</vt:lpstr>
      <vt:lpstr>Evaluation</vt:lpstr>
      <vt:lpstr>PowerPoint Presentation</vt:lpstr>
      <vt:lpstr>Models used &amp; why</vt:lpstr>
      <vt:lpstr>PowerPoint Presentation</vt:lpstr>
      <vt:lpstr>Deployment</vt:lpstr>
      <vt:lpstr>PowerPoint Presentation</vt:lpstr>
      <vt:lpstr>Impact of the solution</vt:lpstr>
      <vt:lpstr>PowerPoint Presentation</vt:lpstr>
      <vt:lpstr>Demo Video</vt:lpstr>
      <vt:lpstr>PowerPoint Presentation</vt:lpstr>
      <vt:lpstr>Scope of improvement</vt:lpstr>
      <vt:lpstr>PowerPoint Presentation</vt:lpstr>
      <vt:lpstr>Learnings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Pranjali Sonawane</dc:creator>
  <cp:lastModifiedBy>Pranjali Sonawane</cp:lastModifiedBy>
  <cp:revision>1</cp:revision>
  <dcterms:created xsi:type="dcterms:W3CDTF">2026-08-10T13:23:14Z</dcterms:created>
  <dcterms:modified xsi:type="dcterms:W3CDTF">2026-08-10T14:34:40Z</dcterms:modified>
</cp:coreProperties>
</file>