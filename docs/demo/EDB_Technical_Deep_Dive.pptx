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2D8"/>
                </a:solidFill>
                <a:latin typeface="Calibri"/>
              </a:rPr>
              <a:t>EDB SUPPORT PACKAGE FOR AI COE  ·  RESEARCH INCENTIVE SCHEME RIS(C)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Grant claim preparation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as a deterministic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C8D6E8"/>
                </a:solidFill>
                <a:latin typeface="Calibri"/>
              </a:rPr>
              <a:t>Architecture, calculation engines, LLM guardrails and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FB0C4"/>
                </a:solidFill>
                <a:latin typeface="Calibri"/>
              </a:rPr>
              <a:t>Application No. S26-10249-RIS(C)   |   Qualifying period 01 Jan 2026 – 31 Dec 2028   |   ST Engineering AI Centre of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8096"/>
                </a:solidFill>
                <a:latin typeface="Calibri"/>
              </a:rPr>
              <a:t>Engineering deep-dive  ·  ST Engineering HR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THE PROBLEM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An audit requirement, not an arithmetic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The arithmetic is easy.  </a:t>
            </a:r>
            <a:r>
              <a:rPr sz="1450">
                <a:solidFill>
                  <a:srgbClr val="0B0F17"/>
                </a:solidFill>
                <a:latin typeface="Calibri"/>
              </a:rPr>
              <a:t>Monthly pro-ration of a capped salary. A spreadsheet does it. That is not what makes this hard.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The audit is the constraint.  </a:t>
            </a:r>
            <a:r>
              <a:rPr sz="1450">
                <a:solidFill>
                  <a:srgbClr val="0B0F17"/>
                </a:solidFill>
                <a:latin typeface="Calibri"/>
              </a:rPr>
              <a:t>An ACRA-registered Practitioner performs SSRS 4400 agreed-upon procedures and samples at least 85% of claimed value against the Statement of Expenditure. Nearly every claim row must have its evidence retrievable on demand.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So evidence cannot be reconstructed at export.  </a:t>
            </a:r>
            <a:r>
              <a:rPr sz="1450">
                <a:solidFill>
                  <a:srgbClr val="0B0F17"/>
                </a:solidFill>
                <a:latin typeface="Calibri"/>
              </a:rPr>
              <a:t>It has to be threaded from the parser forward. EvidenceRef{file, sheet, cell_or_row, label} is attached at the moment a value is read out of a workbook, and survives all the way to the pack.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Three workbook contracts, re-keyed by hand.  </a:t>
            </a:r>
            <a:r>
              <a:rPr sz="1450">
                <a:solidFill>
                  <a:srgbClr val="0B0F17"/>
                </a:solidFill>
                <a:latin typeface="Calibri"/>
              </a:rPr>
              <a:t>An internal Checklist/Timesheet per entity per month, a payroll register, an ECMF-validated RSE list — reconciled into EDB's official RIS(C) v1.1 template.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Determinism is an audit property.  </a:t>
            </a:r>
            <a:r>
              <a:rPr sz="1450">
                <a:solidFill>
                  <a:srgbClr val="0B0F17"/>
                </a:solidFill>
                <a:latin typeface="Calibri"/>
              </a:rPr>
              <a:t>The same inputs must produce byte-identical outputs, or a re-run during the audit window changes the answer.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70448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618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Non-goals: equipment/other cost categories, Manpower_Foreigners claims (foreigners are flagged, never claimed), live HR/payroll integration, and replacing the auditor's procedures.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CONFIGURATION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Scheme rules are config, not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edb_claim/config.py is a frozen dataclass; domain rules are deliberately NOT env-overridable. Only 6 knobs read the environment. Every ASSUMED row is a decision waiting on EDB or the auditor — the code carries the open question rather than silently picking a 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9424"/>
            <a:ext cx="301752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49424"/>
            <a:ext cx="2926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Constant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249424"/>
            <a:ext cx="182880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2249424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249424"/>
            <a:ext cx="475488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432" y="2249424"/>
            <a:ext cx="4663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60" y="2249424"/>
            <a:ext cx="155448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97312" y="2249424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78608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support_rate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2578608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0.60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2" y="2578608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× qualifying cost — the co-funding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97312" y="2578608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CONFIRMED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81178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2811780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2811780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salary_floor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2" y="2811780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2811780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exclusion GATE G4 — person is EXCLUDED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97312" y="2811780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CONFIRMED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044952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044952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salary_cap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2" y="3044952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20,000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3044952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arithmetic CLAMP min(salary, cap), person retained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97312" y="3044952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CONFIRMED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278124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3278124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278124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hours_per_day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3632" y="3278124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8.8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42432" y="3278124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monthly capacity = weekdays × 8.8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97312" y="3278124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CONFIRMED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3511296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3511296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weekdays_only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2" y="3511296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True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42432" y="3511296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Mon–Fri; NETWORKDAYS replica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97312" y="3511296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CONFIRMED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374446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" y="3744468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3744468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public_holiday_adjustment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13632" y="3744468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False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2432" y="3744468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holidays do NOT reduce working days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97312" y="3744468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54708"/>
                </a:solidFill>
                <a:latin typeface="Calibri"/>
              </a:rPr>
              <a:t>ASSUMED (Q5)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97764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" y="3977640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max_grant_amount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977640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42,000,000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42432" y="3977640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manpower/salary only ceiling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97312" y="3977640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CONFIRMED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4210812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" y="4210812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" y="4210812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disbursement_threshold_pct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4210812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0.70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42432" y="4210812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70% released, 30% held to completion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97312" y="4210812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CONFIRMED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" y="4443984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6112" y="4443984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upskill_max_months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4443984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42432" y="4443984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existing staff to PL3; new hires uncapped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7312" y="4443984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CONFIRMED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4677156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2960" y="4677156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2" y="4677156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upskill_cap_anchor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13632" y="4677156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first_qualifying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42432" y="4677156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which 9 months — vs training_start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97312" y="4677156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54708"/>
                </a:solidFill>
                <a:latin typeface="Calibri"/>
              </a:rPr>
              <a:t>ASSUMED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" y="491032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6112" y="4910328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confidence_cutoff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13632" y="4910328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0.85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42432" y="4910328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SURFACING threshold — never a discard threshold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97312" y="4910328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54708"/>
                </a:solidFill>
                <a:latin typeface="Calibri"/>
              </a:rPr>
              <a:t>ASSUMED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" y="514350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2960" y="5143500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6112" y="5143500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variance_material_pct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13632" y="5143500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1.0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42432" y="5143500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|Δ%| &gt; 1 reported as materially divergent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97312" y="5143500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54708"/>
                </a:solidFill>
                <a:latin typeface="Calibri"/>
              </a:rPr>
              <a:t>ASSUMED (Q1)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5376672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6112" y="5376672"/>
            <a:ext cx="292608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final_submission_days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13632" y="5376672"/>
            <a:ext cx="1737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183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42432" y="5376672"/>
            <a:ext cx="46634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final Audited Claim after QP end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97312" y="5376672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CONFIRMED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" y="5609844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Effective ceiling per person: 60% × 20,000 = $12,000/month. claim_is_audited is False in the POC, so the Details sheet always writes 'UnauditedClaim' — the rate being confirmed is tracked separately from the claim being audited.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ARCHITECTURE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Module map and the sealed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558284"/>
            <a:ext cx="11201400" cy="3175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04004"/>
            <a:ext cx="11201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B54708"/>
                </a:solidFill>
                <a:latin typeface="Calibri"/>
              </a:rPr>
              <a:t>HARD BOUNDARY — nothing in calc/ or output/ may import llm/ · enforced by 3 subprocess import tests, not by convention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5004" y="1853946"/>
            <a:ext cx="2912364" cy="416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8156" y="1899666"/>
            <a:ext cx="2766060" cy="3246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3355E"/>
                </a:solidFill>
                <a:latin typeface="Calibri"/>
              </a:rPr>
              <a:t>app/main.py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Streamlit shell · 1,356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7438" y="1853946"/>
            <a:ext cx="2912364" cy="416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0590" y="1899666"/>
            <a:ext cx="2766060" cy="3246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3355E"/>
                </a:solidFill>
                <a:latin typeface="Calibri"/>
              </a:rPr>
              <a:t>webui/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React 18 + Vite + Tailwind · 2,764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853946"/>
            <a:ext cx="2912364" cy="416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99666"/>
            <a:ext cx="2766060" cy="3246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3355E"/>
                </a:solidFill>
                <a:latin typeface="Calibri"/>
              </a:rPr>
              <a:t>api/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FastAPI server 399 · serialize 240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5004" y="2519629"/>
            <a:ext cx="9857232" cy="332841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3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8156" y="2565349"/>
            <a:ext cx="9710928" cy="241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app/pipeline.py — run_pipeline()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the single orchestration seam · 631 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5004" y="3018891"/>
            <a:ext cx="1837029" cy="70728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8156" y="3064611"/>
            <a:ext cx="1690725" cy="615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domain/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models 324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calendar_utils 113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0054" y="3018891"/>
            <a:ext cx="1837029" cy="70728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3206" y="3064611"/>
            <a:ext cx="1690725" cy="615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ingest/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timesheet 648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salary 451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rse_list 223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5105" y="3018891"/>
            <a:ext cx="1837029" cy="70728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8257" y="3064611"/>
            <a:ext cx="1690725" cy="615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validate/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completeness 856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gates 455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crosschecks 338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verdict 135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90155" y="3018891"/>
            <a:ext cx="1837029" cy="70728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3307" y="3064611"/>
            <a:ext cx="1690725" cy="615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calc/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method_a 245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method_b 269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variance 149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5206" y="3018891"/>
            <a:ext cx="1837029" cy="70728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8358" y="3064611"/>
            <a:ext cx="1690725" cy="615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output/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soe 307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edb_writer 164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reports 86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5004" y="4017416"/>
            <a:ext cx="2688336" cy="416052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8156" y="4063136"/>
            <a:ext cx="2542032" cy="3246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db/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schema 379 · store 842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16 tables · sqlite-vec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75704" y="4017416"/>
            <a:ext cx="4256532" cy="416052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48856" y="4063136"/>
            <a:ext cx="4110228" cy="3246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eval/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harness 277 · groundedness 320 · questions 146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5004" y="4807915"/>
            <a:ext cx="9857232" cy="540867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8156" y="4853635"/>
            <a:ext cx="9710928" cy="4494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7A2F05"/>
                </a:solidFill>
                <a:latin typeface="Calibri"/>
              </a:rPr>
              <a:t>llm/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client 335 · qa 630 · extract 287 · reconcile 224 · designation 178 · cache 169 · advisories 123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16621" y="2061972"/>
            <a:ext cx="24643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08317" y="182422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00" b="1">
                <a:solidFill>
                  <a:srgbClr val="1F4E79"/>
                </a:solidFill>
                <a:latin typeface="Calibri"/>
              </a:rPr>
              <a:t>/api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76054" y="2328245"/>
            <a:ext cx="0" cy="133136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31186" y="2328245"/>
            <a:ext cx="0" cy="133136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12033" y="3372535"/>
            <a:ext cx="16802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017084" y="3372535"/>
            <a:ext cx="16802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022134" y="3372535"/>
            <a:ext cx="16802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27185" y="3372535"/>
            <a:ext cx="16802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103620" y="3784427"/>
            <a:ext cx="0" cy="87371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519172" y="3871798"/>
            <a:ext cx="3584448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519172" y="3871798"/>
            <a:ext cx="0" cy="87371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98569" y="3784427"/>
            <a:ext cx="0" cy="965240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162577" y="4157319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>
                <a:solidFill>
                  <a:srgbClr val="B54708"/>
                </a:solidFill>
                <a:latin typeface="Calibri"/>
              </a:rPr>
              <a:t>proposals only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6103620" y="3784427"/>
            <a:ext cx="0" cy="965240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Arrows point the way dependencies flow. Both front-ends converge on one seam, app/pipeline.py:538 run_pipeline(). Line counts are real.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ARCHITECTURE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Data flow — one upload to a submission pack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" y="1895551"/>
            <a:ext cx="1680210" cy="4992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1941271"/>
            <a:ext cx="1533906" cy="4078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3355E"/>
                </a:solidFill>
                <a:latin typeface="Calibri"/>
              </a:rPr>
              <a:t>Upload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xlsx · multipart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or sample 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95551"/>
            <a:ext cx="1904238" cy="49926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941271"/>
            <a:ext cx="1757934" cy="4078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Ingest ×3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timesheet · rse_list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payroll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895551"/>
            <a:ext cx="1904238" cy="49926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2" y="1941271"/>
            <a:ext cx="1757934" cy="4078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Completeness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19 DocTypes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person-month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895551"/>
            <a:ext cx="1904238" cy="49926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941271"/>
            <a:ext cx="1757934" cy="4078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Gates G1–G7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+ 4 cross-checks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(warnings only)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1895551"/>
            <a:ext cx="1792224" cy="49926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192" y="1941271"/>
            <a:ext cx="1645920" cy="4078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Verdict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EXCLUDED &gt;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BLOCKED &gt; QUALIFIES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060496"/>
            <a:ext cx="3584448" cy="62407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2" y="3106216"/>
            <a:ext cx="3438144" cy="5326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calc/ — both engines, every claim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Method A · EDB pro-ration -&gt; SUBMITTED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Method B · internal hours ratio -&gt; CROSS-CHECK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3060496"/>
            <a:ext cx="2240280" cy="62407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106216"/>
            <a:ext cx="2093976" cy="5326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Variance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Δ$ · Δ%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New-Hire B&gt;A flag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&gt;1% material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962" y="4558284"/>
            <a:ext cx="2352294" cy="540867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114" y="4604004"/>
            <a:ext cx="2205990" cy="4494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05024"/>
                </a:solidFill>
                <a:latin typeface="Calibri"/>
              </a:rPr>
              <a:t>EDB template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official RIS(C) v1.1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formulas + hidden cols kept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5284" y="4558284"/>
            <a:ext cx="2352294" cy="540867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8436" y="4604004"/>
            <a:ext cx="2205990" cy="4494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05024"/>
                </a:solidFill>
                <a:latin typeface="Calibri"/>
              </a:rPr>
              <a:t>SOE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6 sheets · evidence trail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for the Practitioner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91606" y="4558284"/>
            <a:ext cx="2352294" cy="540867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64758" y="4604004"/>
            <a:ext cx="2205990" cy="4494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05024"/>
                </a:solidFill>
                <a:latin typeface="Calibri"/>
              </a:rPr>
              <a:t>Issues to fix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everyone not yet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claimable, with reasons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67928" y="4558284"/>
            <a:ext cx="2352294" cy="540867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4604004"/>
            <a:ext cx="2205990" cy="4494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SQLite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persist_result()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best-effort, never fatal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7158" y="2145182"/>
            <a:ext cx="33604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47438" y="2145182"/>
            <a:ext cx="33604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87717" y="2145182"/>
            <a:ext cx="336043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27998" y="2145182"/>
            <a:ext cx="33604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75879" y="2453060"/>
            <a:ext cx="0" cy="549189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24747" y="3372535"/>
            <a:ext cx="291237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775704" y="3742822"/>
            <a:ext cx="0" cy="378607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015109" y="4121429"/>
            <a:ext cx="4760595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15109" y="4121429"/>
            <a:ext cx="0" cy="378607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75704" y="3742822"/>
            <a:ext cx="0" cy="378607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591431" y="4121429"/>
            <a:ext cx="218427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91431" y="4121429"/>
            <a:ext cx="0" cy="378607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360152" y="2453060"/>
            <a:ext cx="0" cy="1023488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167753" y="3476548"/>
            <a:ext cx="3192399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167753" y="3476548"/>
            <a:ext cx="0" cy="1023488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136124" y="3742822"/>
            <a:ext cx="0" cy="757214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A parse failure never aborts the run: explain_ingest_error() classifies it and returns an HR-readable why+fix into PipelineResult.errors.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INGEST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Parsers that fail loudly and locate precisely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516636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Layout is a contract, not a guess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21408"/>
            <a:ext cx="5166360" cy="361188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478231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Pinned offsets.  </a:t>
            </a:r>
            <a:r>
              <a:rPr sz="1050">
                <a:solidFill>
                  <a:srgbClr val="0B0F17"/>
                </a:solidFill>
                <a:latin typeface="Calibri"/>
              </a:rPr>
              <a:t>TS_HEADER_ROW=18, TS_DATA_START=19, SC_HEADER_ROW=14, SC_DATA_START=15, entity in G3. Missing sheet raises LayoutError.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Header synonyms + positional fallback.  </a:t>
            </a:r>
            <a:r>
              <a:rPr sz="1050">
                <a:solidFill>
                  <a:srgbClr val="0B0F17"/>
                </a:solidFill>
                <a:latin typeface="Calibri"/>
              </a:rPr>
              <a:t>Emp No / Staff ID / Employee ID; Salary / Basic Pay / Base Salary. If headers are unrecognisable it falls back to column position rather than silently returning nothing.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Period inference.  </a:t>
            </a:r>
            <a:r>
              <a:rPr sz="1050">
                <a:solidFill>
                  <a:srgbClr val="0B0F17"/>
                </a:solidFill>
                <a:latin typeface="Calibri"/>
              </a:rPr>
              <a:t>5 regexes over a Period / Pay Date / Pay Month column — a real date, '2024-01', or 'Jan 2024' — or from the filename (payslip-E001-2026-01.xlsx).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Basic salary only.  </a:t>
            </a:r>
            <a:r>
              <a:rPr sz="1050">
                <a:solidFill>
                  <a:srgbClr val="0B0F17"/>
                </a:solidFill>
                <a:latin typeface="Calibri"/>
              </a:rPr>
              <a:t>EXCLUDED_COMPONENTS drops CPF, bonus, AWS, allowances, COLA and airfare at the parser, so a non-qualifying component cannot leak downstream into a figure.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664208"/>
            <a:ext cx="5166360" cy="457200"/>
          </a:xfrm>
          <a:prstGeom prst="rect">
            <a:avLst/>
          </a:prstGeom>
          <a:solidFill>
            <a:srgbClr val="13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664208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 bad file degrades, it does not abort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2121408"/>
            <a:ext cx="5166360" cy="361188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267712"/>
            <a:ext cx="478231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explain_ingest_error().  </a:t>
            </a:r>
            <a:r>
              <a:rPr sz="1050">
                <a:solidFill>
                  <a:srgbClr val="0B0F17"/>
                </a:solidFill>
                <a:latin typeface="Calibri"/>
              </a:rPr>
              <a:t>Classifies the exception — missing sheet, no Basic Salary column, unreadable period, duplicate row, not-a-zip — and returns an HR-readable why + fix into PipelineResult.errors.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Multi-file merge.  </a:t>
            </a:r>
            <a:r>
              <a:rPr sz="1050">
                <a:solidFill>
                  <a:srgbClr val="0B0F17"/>
                </a:solidFill>
                <a:latin typeface="Calibri"/>
              </a:rPr>
              <a:t>Every payroll file is parsed then de-duplicated to one row per (employee_id, year, month), first wins. 27 individual payslip files produce the same total as one consolidated register.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Evidence at read time.  </a:t>
            </a:r>
            <a:r>
              <a:rPr sz="1050">
                <a:solidFill>
                  <a:srgbClr val="0B0F17"/>
                </a:solidFill>
                <a:latin typeface="Calibri"/>
              </a:rPr>
              <a:t>Every parsed field carries its source_refs. This is the FR-7 hook and it is asserted by test_every_field_has_evidence_ref.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89788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timesheet.py 648 · salary.py 451 · rse_list.py 223 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DOMAIN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Frozen models and an Excel-faithful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12 frozen dataclasses carry the contracts between layers. The calendar is a deliberate replica of Excel's NETWORKDAYS, because the EDB worked example and the internal workbook both depend on that exact convention.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6446520" cy="2970403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22576"/>
            <a:ext cx="6080760" cy="2714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7FB0E0"/>
                </a:solidFill>
                <a:latin typeface="Consolas"/>
              </a:rPr>
              <a:t># models.py — the evidence pointer, threaded everywhere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@dataclass(frozen=True)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class EvidenceRef: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    file: str          # 'internal_ANS.xlsx'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    sheet: str         # 'Time Sheet'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    cell_or_row: str   # 'G19'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    label: str         # 'monthly hours, Mar'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7FB0E0"/>
                </a:solidFill>
                <a:latin typeface="Consolas"/>
              </a:rPr>
              <a:t># calendar_utils.py — weekdays only, no PH adjustment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def worked_weekdays(start, end) -&gt; int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def weekdays_in_month(year, month) -&gt; int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def networkdays(start, end) -&gt; int   # Excel replica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def month_fraction(y, m, claim_start, claim_end) -&gt; float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57984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Why replicate rather than import.  </a:t>
            </a:r>
            <a:r>
              <a:rPr sz="1050">
                <a:solidFill>
                  <a:srgbClr val="0B0F17"/>
                </a:solidFill>
                <a:latin typeface="Calibri"/>
              </a:rPr>
              <a:t>The internal workbook computes capacity with NETWORKDAYS(join, left) × 8.8. Any divergence in the weekday convention shows up as a cent-level mismatch against the EDB oracle.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15 calendar tests  </a:t>
            </a:r>
            <a:r>
              <a:rPr sz="1050">
                <a:solidFill>
                  <a:srgbClr val="0B0F17"/>
                </a:solidFill>
                <a:latin typeface="Calibri"/>
              </a:rPr>
              <a:t>pin it against Excel: partial months (13/23 Jan 2018), leap February, a weekend-only span returning 0.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Public holidays are the open question.  </a:t>
            </a:r>
            <a:r>
              <a:rPr sz="1050">
                <a:solidFill>
                  <a:srgbClr val="0B0F17"/>
                </a:solidFill>
                <a:latin typeface="Calibri"/>
              </a:rPr>
              <a:t>public_holiday_adjustment=False is ASSUMED (PRD §10 Q5). If the auditor rules otherwise it is a one-line config change, not a refactor — which is exactly why it is config.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VALIDATION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Seven gates, each with a reason and a 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Gates run per person-month. Every gate returns a grounded reason AND an EvidenceRef — never generic error text, because 'not eligible' with no cell reference is useless to both HR and the auditor.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9424"/>
            <a:ext cx="91440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49424"/>
            <a:ext cx="822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249424"/>
            <a:ext cx="457200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2249424"/>
            <a:ext cx="4480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249424"/>
            <a:ext cx="329184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249424"/>
            <a:ext cx="3200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Authority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2249424"/>
            <a:ext cx="237744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4352" y="2249424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On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7860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G1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257860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Local — SG citizen or 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57860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RSE list + Time Sheet col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257860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EXCLUDED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85292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2852928"/>
            <a:ext cx="11155680" cy="27432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285292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G2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0512" y="285292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ECMF-validated 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85292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RSE list + Time Sheet col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285292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EXCLUDED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12724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12724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G3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0512" y="312724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Not enjoying another government cash grant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12724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Time Sheet col 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12724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EXCLUDED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40156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3401568"/>
            <a:ext cx="11155680" cy="27432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40156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G4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10512" y="340156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Basic monthly salary ≥ S$5,000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40156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Payslip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340156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EXCLUDED / BLOCKED*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367588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367588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G5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10512" y="367588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Designation not in a non-qualifying category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367588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Time Sheet col 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67588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EXCLUDED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395020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" y="3950208"/>
            <a:ext cx="11155680" cy="27432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395020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G6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10512" y="395020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Involvement period overlaps the claim period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395020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Staff Costs C1/C2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395020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EXCLUDED / BLOCKED*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422452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" y="4224528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G7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10512" y="422452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Payslip evidence exists for the month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422452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Document check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74352" y="422452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BLOCKED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449884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4608576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G5 is deterministic keyword logic, not the LLM.  </a:t>
            </a:r>
            <a:r>
              <a:rPr sz="1050">
                <a:solidFill>
                  <a:srgbClr val="0B0F17"/>
                </a:solidFill>
                <a:latin typeface="Calibri"/>
              </a:rPr>
              <a:t>A whole-word hit on one of the 7 non-qualifying categories — Marketing, Finance, Sales, HR, Admin, Facilities Mgmt, Legal — hard-fails. A _TECH_TERMS hit passes. Anything else passes provisionally and is marked needs_review. The model only ever judges the needs_review set, and never overrides the gate.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* G4 and G6 are CONDITIONAL blockers: they block only when source_ref is None, i.e. the rule could not be evaluated. A salary of 4,800 is a substantive EXCLUSION; a missing salary is a fixable BLOCK. Conflating the two would either hide an ineligible person or make a re-upload look like an appeal.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VALIDATION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Verdict algebra — exclusion beats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Three statuses, strict precedence. The ordering matters: a person who is both ineligible and missing a document must read as EXCLUDED, or HR would chase a payslip for someone who can never be claimed.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6446520" cy="219696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22576"/>
            <a:ext cx="6080760" cy="194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66">
                <a:solidFill>
                  <a:srgbClr val="7FB0E0"/>
                </a:solidFill>
                <a:latin typeface="Consolas"/>
              </a:rPr>
              <a:t># validate/verdict.py</a:t>
            </a:r>
          </a:p>
          <a:p>
            <a:pPr>
              <a:spcAft>
                <a:spcPts val="200"/>
              </a:spcAft>
            </a:pPr>
            <a:r>
              <a:rPr sz="1066">
                <a:solidFill>
                  <a:srgbClr val="D7E3F4"/>
                </a:solidFill>
                <a:latin typeface="Consolas"/>
              </a:rPr>
              <a:t>EXCLUDED  &gt;  BLOCKED  &gt;  QUALIFIES</a:t>
            </a:r>
          </a:p>
          <a:p>
            <a:pPr>
              <a:spcAft>
                <a:spcPts val="200"/>
              </a:spcAft>
            </a:pPr>
            <a:r>
              <a:rPr sz="1066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66">
                <a:solidFill>
                  <a:srgbClr val="D7E3F4"/>
                </a:solidFill>
                <a:latin typeface="Consolas"/>
              </a:rPr>
              <a:t>_ALWAYS_BLOCKER_GATES      = {G7}    # missing payslip</a:t>
            </a:r>
          </a:p>
          <a:p>
            <a:pPr>
              <a:spcAft>
                <a:spcPts val="200"/>
              </a:spcAft>
            </a:pPr>
            <a:r>
              <a:rPr sz="1066">
                <a:solidFill>
                  <a:srgbClr val="D7E3F4"/>
                </a:solidFill>
                <a:latin typeface="Consolas"/>
              </a:rPr>
              <a:t>_CONDITIONAL_BLOCKER_GATES = {G4, G6}</a:t>
            </a:r>
          </a:p>
          <a:p>
            <a:pPr>
              <a:spcAft>
                <a:spcPts val="200"/>
              </a:spcAft>
            </a:pPr>
            <a:r>
              <a:rPr sz="1066">
                <a:solidFill>
                  <a:srgbClr val="D7E3F4"/>
                </a:solidFill>
                <a:latin typeface="Consolas"/>
              </a:rPr>
              <a:t>    # ^ blocks ONLY when source_ref is None</a:t>
            </a:r>
          </a:p>
          <a:p>
            <a:pPr>
              <a:spcAft>
                <a:spcPts val="200"/>
              </a:spcAft>
            </a:pPr>
            <a:r>
              <a:rPr sz="1066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66">
                <a:solidFill>
                  <a:srgbClr val="7FB0E0"/>
                </a:solidFill>
                <a:latin typeface="Consolas"/>
              </a:rPr>
              <a:t># two-layer salary rule — different kinds of thing</a:t>
            </a:r>
          </a:p>
          <a:p>
            <a:pPr>
              <a:spcAft>
                <a:spcPts val="200"/>
              </a:spcAft>
            </a:pPr>
            <a:r>
              <a:rPr sz="1066">
                <a:solidFill>
                  <a:srgbClr val="D7E3F4"/>
                </a:solidFill>
                <a:latin typeface="Consolas"/>
              </a:rPr>
              <a:t>salary &lt;  5,000  -&gt;  GATE G4 fails  -&gt;  EXCLUDED</a:t>
            </a:r>
          </a:p>
          <a:p>
            <a:pPr>
              <a:spcAft>
                <a:spcPts val="200"/>
              </a:spcAft>
            </a:pPr>
            <a:r>
              <a:rPr sz="1066">
                <a:solidFill>
                  <a:srgbClr val="D7E3F4"/>
                </a:solidFill>
                <a:latin typeface="Consolas"/>
              </a:rPr>
              <a:t>salary &gt;= 5,000  -&gt;  min(salary, 20_000)  -&gt;  RETAINED, clamped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57984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The floor is a gate; the cap is a clamp.  </a:t>
            </a:r>
            <a:r>
              <a:rPr sz="1050">
                <a:solidFill>
                  <a:srgbClr val="0B0F17"/>
                </a:solidFill>
                <a:latin typeface="Calibri"/>
              </a:rPr>
              <a:t>Treating the 20,000 cap as an exclusion would drop the most senior researchers from the claim entirely. ANS-004 at $23,000/month qualifies and claims on 20,000.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Cross-checks never change a verdict.  </a:t>
            </a:r>
            <a:r>
              <a:rPr sz="1050">
                <a:solidFill>
                  <a:srgbClr val="0B0F17"/>
                </a:solidFill>
                <a:latin typeface="Calibri"/>
              </a:rPr>
              <a:t>4 kinds — ECMF flag conflict, hours over capacity, payslip basic vs Staff Costs [A], payslip coverage vs dates. Each warning carries BOTH conflicting values so HR can adjudicate.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Nothing is ever silently dropped.  </a:t>
            </a:r>
            <a:r>
              <a:rPr sz="1050">
                <a:solidFill>
                  <a:srgbClr val="0B0F17"/>
                </a:solidFill>
                <a:latin typeface="Calibri"/>
              </a:rPr>
              <a:t>test_outputs.py asserts every person with not qualifies appears in the Issues-to-fix sheet. Amber = fixable BLOCKED, red = EXCLUDED, confirm the reason.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VALIDATION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Document completeness as a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516636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19 DocTypes, scoped and graded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21408"/>
            <a:ext cx="5166360" cy="361188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478231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Three scopes.  </a:t>
            </a:r>
            <a:r>
              <a:rPr sz="1050">
                <a:solidFill>
                  <a:srgbClr val="0B0F17"/>
                </a:solidFill>
                <a:latin typeface="Calibri"/>
              </a:rPr>
              <a:t>PERSON_MONTH (a payslip for a claimed month), PERSON (CPF/bank statement), ENTITY (the ECMF RSE list, the internal workbook, the EDB template).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Four blockers, fifteen warnings.  </a:t>
            </a:r>
            <a:r>
              <a:rPr sz="1050">
                <a:solidFill>
                  <a:srgbClr val="0B0F17"/>
                </a:solidFill>
                <a:latin typeface="Calibri"/>
              </a:rPr>
              <a:t>BLOCKER: payslip, ECMF RSE list, internal workbook, EDB template. Everything else degrades the claim without stopping it.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Cells, not booleans.  </a:t>
            </a:r>
            <a:r>
              <a:rPr sz="1050">
                <a:solidFill>
                  <a:srgbClr val="0B0F17"/>
                </a:solidFill>
                <a:latin typeface="Calibri"/>
              </a:rPr>
              <a:t>Each employee × month × doc cell is present / missing / inconsistent, rolled up to EmployeeRollup then EntityRollup.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Severities are ASSUMED.  </a:t>
            </a:r>
            <a:r>
              <a:rPr sz="1050">
                <a:solidFill>
                  <a:srgbClr val="0B0F17"/>
                </a:solidFill>
                <a:latin typeface="Calibri"/>
              </a:rPr>
              <a:t>Pending the auditor's confirmed document list (PRD §10 Q4). The wider HR checklist — LoA, PL3 confirmation, daily clocking, AI artifacts — is presence-checked only, never parsed.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664208"/>
            <a:ext cx="5166360" cy="457200"/>
          </a:xfrm>
          <a:prstGeom prst="rect">
            <a:avLst/>
          </a:prstGeom>
          <a:solidFill>
            <a:srgbClr val="13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664208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Re-upload is purity, not patching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2121408"/>
            <a:ext cx="5166360" cy="361188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267712"/>
            <a:ext cx="478231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build_completeness recomputes from scratch.  </a:t>
            </a:r>
            <a:r>
              <a:rPr sz="1050">
                <a:solidFill>
                  <a:srgbClr val="0B0F17"/>
                </a:solidFill>
                <a:latin typeface="Calibri"/>
              </a:rPr>
              <a:t>There is no incremental mutation path, so 'only the affected cells flip' is a property of the design rather than a behaviour that has to be tested into existence.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The UI gate is real.  </a:t>
            </a:r>
            <a:r>
              <a:rPr sz="1050">
                <a:solidFill>
                  <a:srgbClr val="0B0F17"/>
                </a:solidFill>
                <a:latin typeface="Calibri"/>
              </a:rPr>
              <a:t>Results.tsx:1031 — gated = step === 0 &amp;&amp; blockers.length &gt; 0 &amp;&amp; !acknowledged. Continue is disabled until HR either re-uploads the document or explicitly acknowledges the gap, in which case the affected people are excluded from the claim.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DoD-2.  </a:t>
            </a:r>
            <a:r>
              <a:rPr sz="1050">
                <a:solidFill>
                  <a:srgbClr val="0B0F17"/>
                </a:solidFill>
                <a:latin typeface="Calibri"/>
              </a:rPr>
              <a:t>Fix the missing-payslip case by re-upload and the blocker clears without redoing anything else.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89788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completeness.py is 856 lines — the largest module in the codebase, and the one with no dedicated test file. Coverage is indirect, via the three test_real_* end-to-end gate tests.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CALCULATION — METHOD A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EDB monthly pro-ration: the submitted figure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Method A is EDB's official method and the only number that goes on the submission. Full precision throughout; exactly one rounding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6446520" cy="213780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22576"/>
            <a:ext cx="6080760" cy="188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33">
                <a:solidFill>
                  <a:srgbClr val="7FB0E0"/>
                </a:solidFill>
                <a:latin typeface="Consolas"/>
              </a:rPr>
              <a:t># calc/method_a.py</a:t>
            </a:r>
          </a:p>
          <a:p>
            <a:pPr>
              <a:spcAft>
                <a:spcPts val="200"/>
              </a:spcAft>
            </a:pPr>
            <a:r>
              <a:rPr sz="1033">
                <a:solidFill>
                  <a:srgbClr val="D7E3F4"/>
                </a:solidFill>
                <a:latin typeface="Consolas"/>
              </a:rPr>
              <a:t>qualifying_cost = Σ over months m of:</a:t>
            </a:r>
          </a:p>
          <a:p>
            <a:pPr>
              <a:spcAft>
                <a:spcPts val="200"/>
              </a:spcAft>
            </a:pPr>
            <a:r>
              <a:rPr sz="1033">
                <a:solidFill>
                  <a:srgbClr val="D7E3F4"/>
                </a:solidFill>
                <a:latin typeface="Consolas"/>
              </a:rPr>
              <a:t>      capped_salary(m) × month_fraction(m) × time_contribution(m)</a:t>
            </a:r>
          </a:p>
          <a:p>
            <a:pPr>
              <a:spcAft>
                <a:spcPts val="200"/>
              </a:spcAft>
            </a:pPr>
            <a:r>
              <a:rPr sz="1033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33">
                <a:solidFill>
                  <a:srgbClr val="D7E3F4"/>
                </a:solidFill>
                <a:latin typeface="Consolas"/>
              </a:rPr>
              <a:t>capped_salary(m)     = min(basic_salary(m), 20_000)</a:t>
            </a:r>
          </a:p>
          <a:p>
            <a:pPr>
              <a:spcAft>
                <a:spcPts val="200"/>
              </a:spcAft>
            </a:pPr>
            <a:r>
              <a:rPr sz="1033">
                <a:solidFill>
                  <a:srgbClr val="D7E3F4"/>
                </a:solidFill>
                <a:latin typeface="Consolas"/>
              </a:rPr>
              <a:t>month_fraction(m)    = worked_weekdays / weekdays(m)</a:t>
            </a:r>
          </a:p>
          <a:p>
            <a:pPr>
              <a:spcAft>
                <a:spcPts val="200"/>
              </a:spcAft>
            </a:pPr>
            <a:r>
              <a:rPr sz="1033">
                <a:solidFill>
                  <a:srgbClr val="D7E3F4"/>
                </a:solidFill>
                <a:latin typeface="Consolas"/>
              </a:rPr>
              <a:t>                       # 1.0 for a whole month</a:t>
            </a:r>
          </a:p>
          <a:p>
            <a:pPr>
              <a:spcAft>
                <a:spcPts val="200"/>
              </a:spcAft>
            </a:pPr>
            <a:r>
              <a:rPr sz="1033">
                <a:solidFill>
                  <a:srgbClr val="D7E3F4"/>
                </a:solidFill>
                <a:latin typeface="Consolas"/>
              </a:rPr>
              <a:t>time_contribution(m) = min(1.0, hours(m) / (weekdays(m) × 8.8))</a:t>
            </a:r>
          </a:p>
          <a:p>
            <a:pPr>
              <a:spcAft>
                <a:spcPts val="200"/>
              </a:spcAft>
            </a:pPr>
            <a:r>
              <a:rPr sz="1033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33">
                <a:solidFill>
                  <a:srgbClr val="D7E3F4"/>
                </a:solidFill>
                <a:latin typeface="Consolas"/>
              </a:rPr>
              <a:t>claim = round(qualifying_cost_total × 0.60, 2)  # ONLY round()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57984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The cent rule.  </a:t>
            </a:r>
            <a:r>
              <a:rPr sz="1050">
                <a:solidFill>
                  <a:srgbClr val="0B0F17"/>
                </a:solidFill>
                <a:latin typeface="Calibri"/>
              </a:rPr>
              <a:t>Per-month costs and the running total are never pre-rounded. The single round() mirrors the template's own I = ROUND(G×H, 2). Pre-rounding monthly figures drifts against the hand-calc control by cents — which is precisely what an auditor sampling to the cent would find.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time_contribution is clamped, [D3] is not.  </a:t>
            </a:r>
            <a:r>
              <a:rPr sz="1050">
                <a:solidFill>
                  <a:srgbClr val="0B0F17"/>
                </a:solidFill>
                <a:latin typeface="Calibri"/>
              </a:rPr>
              <a:t>Method A caps time at 100%; the internal sheet's ratio can exceed it. That asymmetry is one source of the A-vs-B variance.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9-month upskill cap.  </a:t>
            </a:r>
            <a:r>
              <a:rPr sz="1050">
                <a:solidFill>
                  <a:srgbClr val="0B0F17"/>
                </a:solidFill>
                <a:latin typeface="Calibri"/>
              </a:rPr>
              <a:t>_apply_upskill_cap keeps the earliest qualifying months for UPSKILLED/RESKILLED only. New hires and unknown hire types are never capped; the result carries months_capped so the truncation is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CALCULATION — METHOD A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Pinned to EDB's own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The template ships a sheet, 'Salary Pro-ration E.g.', containing EDB's authoritative worked example. It is the non-negotiable oracle: if this figure moves, the engine is wrong.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76272"/>
            <a:ext cx="2491740" cy="137160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76272"/>
            <a:ext cx="50800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$7,310.87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2174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EDB worked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99232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5A6472"/>
                </a:solidFill>
                <a:latin typeface="Calibri"/>
              </a:rPr>
              <a:t>9,500 · 15 Jan–31 Mar 2018 · @ 30%, THEIR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7580" y="2176272"/>
            <a:ext cx="2491740" cy="137160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7580" y="2176272"/>
            <a:ext cx="50800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60" y="2286000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13 /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0460" y="2743200"/>
            <a:ext cx="22174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January month_fraction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0460" y="2999232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5A6472"/>
                </a:solidFill>
                <a:latin typeface="Calibri"/>
              </a:rPr>
              <a:t>asserted exactly, not approximately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176272"/>
            <a:ext cx="2491740" cy="137160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176272"/>
            <a:ext cx="50800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286000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$24,369.56…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43200"/>
            <a:ext cx="22174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qualifying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99232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5A6472"/>
                </a:solidFill>
                <a:latin typeface="Calibri"/>
              </a:rPr>
              <a:t>carried unrounded — no pre-rounding drift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46820" y="2176272"/>
            <a:ext cx="2491740" cy="137160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46820" y="2176272"/>
            <a:ext cx="50800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9700" y="2286000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9700" y="2743200"/>
            <a:ext cx="22174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Method A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9700" y="2999232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5A6472"/>
                </a:solidFill>
                <a:latin typeface="Calibri"/>
              </a:rPr>
              <a:t>oracle, cap clamp, joiner fraction, upskill cap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749040"/>
            <a:ext cx="10515600" cy="131127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3877056"/>
            <a:ext cx="10149840" cy="105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7FB0E0"/>
                </a:solidFill>
                <a:latin typeface="Consolas"/>
              </a:rPr>
              <a:t># tests/test_method_a.py:74 — the rate is pinned deliberately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# EDB's published example is at their stated 30% support; pin it explicitly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# so this method check stays independent of our scheme's confirmed 60% rate.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settings_30 = replace(settings, support_rate=0.30)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assert compute_method_a(...).claim_amount == 7310.87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Verified live: docs/demo/verify_calcs.py re-derives every Method A figure independently and reports ALL CHECKS PASSED, including ANS-004 capped every month, ANS-005 → $0.00, and ANS-002's 14/22 joiner fraction.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CALCULATION — METHOD B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The internal sheet, replicated quirks and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Method B reproduces HR's Staff Costs sheet so its figures can be reconciled. Its four quirks are PRESERVED AS FLAGS, never corrected — 'fixing' them would silently disagree with the workbook HR is looking 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1933447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22576"/>
            <a:ext cx="10149840" cy="167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7FB0E0"/>
                </a:solidFill>
                <a:latin typeface="Consolas"/>
              </a:rPr>
              <a:t># calc/method_b.py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[B]  = 'N/A' if salary &lt; 5_000 else min(salary, 20_000)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[D1] = NETWORKDAYS(date_join, date_left) × 8.8      # full employment span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[D2] = total project hours;  New Hire -&gt; 'N/A'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[D3] = 1.0 if New Hire else [D2] / [D1]            # NOT clamped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[E]  = [B] × [D3]                                   # 'N/A' propagates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claim_amount = round([E] × support_rate, 2)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29175"/>
            <a:ext cx="402336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329175"/>
            <a:ext cx="3931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Flag on MethodBDetail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4329175"/>
            <a:ext cx="676656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4329175"/>
            <a:ext cx="6675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The quirk being preserved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658359"/>
            <a:ext cx="39319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new_hire_forced_100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4658359"/>
            <a:ext cx="66751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New Hire gets [D3]=100% with no timesheet evidence at 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923535"/>
            <a:ext cx="1078992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923535"/>
            <a:ext cx="10789920" cy="265176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923535"/>
            <a:ext cx="39319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b_annual_labelled_but_monthly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4923535"/>
            <a:ext cx="66751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the header says 'annual'; the formula yields a monthly figure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188711"/>
            <a:ext cx="1078992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188711"/>
            <a:ext cx="39319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b_below_floor_na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5188711"/>
            <a:ext cx="66751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below the floor, [E] is the STRING 'N/A' — not zero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453887"/>
            <a:ext cx="1078992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453887"/>
            <a:ext cx="10789920" cy="265176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453887"/>
            <a:ext cx="39319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d3_over_100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5453887"/>
            <a:ext cx="66751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the hours ratio is unclamped and can exceed 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719063"/>
            <a:ext cx="1078992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[D1] uses NETWORKDAYS(join, left) × 8.8, not the header's C2 − C1. reconcile() compares the recomputed [E] against the workbook's surfaced [E] at 1e-6, handling both-N/A, blank and mixed cases distinctly.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CALCULATION — VARIANCE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Where the two methods genuinely disagree</a:t>
            </a:r>
          </a:p>
        </p:txBody>
      </p:sp>
      <p:pic>
        <p:nvPicPr>
          <p:cNvPr id="6" name="Picture 5" descr="crop_live_5b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57112"/>
            <a:ext cx="5943600" cy="4092416"/>
          </a:xfrm>
          <a:prstGeom prst="rect">
            <a:avLst/>
          </a:prstGeom>
          <a:ln w="12700">
            <a:solidFill>
              <a:srgbClr val="D7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995160" y="1627632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▸  </a:t>
            </a:r>
            <a:r>
              <a:rPr sz="1100" b="1">
                <a:solidFill>
                  <a:srgbClr val="0B0F17"/>
                </a:solidFill>
                <a:latin typeface="Calibri"/>
              </a:rPr>
              <a:t>This is not a rounding difference.  </a:t>
            </a:r>
            <a:r>
              <a:rPr sz="1100">
                <a:solidFill>
                  <a:srgbClr val="0B0F17"/>
                </a:solidFill>
                <a:latin typeface="Calibri"/>
              </a:rPr>
              <a:t>Method A pro-rates a capped monthly salary across months. Method B applies a single hours ratio over the whole employment span. On the sample roster every row differs materially.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▸  </a:t>
            </a:r>
            <a:r>
              <a:rPr sz="1100" b="1">
                <a:solidFill>
                  <a:srgbClr val="0B0F17"/>
                </a:solidFill>
                <a:latin typeface="Calibri"/>
              </a:rPr>
              <a:t>The audit-risk row.  </a:t>
            </a:r>
            <a:r>
              <a:rPr sz="1100">
                <a:solidFill>
                  <a:srgbClr val="0B0F17"/>
                </a:solidFill>
                <a:latin typeface="Calibri"/>
              </a:rPr>
              <a:t>Chua Mei Ling (ANS-005) — a New Hire with no timesheet hours. Method B forces [D3]=100% and produces $3,900.00 with no supporting evidence; Method A produces $0.00. Flagged 'Verify (New Hire)' regardless of magnitude, because the size of the gap is not the point — the missing evidence is.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▸  </a:t>
            </a:r>
            <a:r>
              <a:rPr sz="1100" b="1">
                <a:solidFill>
                  <a:srgbClr val="0B0F17"/>
                </a:solidFill>
                <a:latin typeface="Calibri"/>
              </a:rPr>
              <a:t>Both ship, on purpose.  </a:t>
            </a:r>
            <a:r>
              <a:rPr sz="1100">
                <a:solidFill>
                  <a:srgbClr val="0B0F17"/>
                </a:solidFill>
                <a:latin typeface="Calibri"/>
              </a:rPr>
              <a:t>PRD §10 Q1 — which method governs each edge case is unresolved pending an EDB/auditor ruling. The POC computes both and reports the variance rather than pre-empting the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Live capture, sample_data @ 60%. Total claim $492,934.55 — ties exactly to eval_report.json. Header stat reads 13 claimable +1 eligible at $0: 14 QUALIFIES verdicts, of which 13 carry a non-zero claim.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LLM LAYER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The trust boundary is a test, not a docstring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8" y="1853946"/>
            <a:ext cx="3360420" cy="2829153"/>
          </a:xfrm>
          <a:prstGeom prst="rect">
            <a:avLst/>
          </a:prstGeom>
          <a:noFill/>
          <a:ln w="15875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" y="1908810"/>
            <a:ext cx="33604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llm/ — PROPOSES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1853946"/>
            <a:ext cx="3360420" cy="2829153"/>
          </a:xfrm>
          <a:prstGeom prst="rect">
            <a:avLst/>
          </a:prstGeom>
          <a:noFill/>
          <a:ln w="15875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08810"/>
            <a:ext cx="33604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DETERMINISTIC — SEALED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83830" y="1812340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83830" y="2046842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83830" y="2281344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83830" y="2515846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3830" y="2750348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83830" y="2984850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83830" y="3219353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83830" y="3453855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83830" y="3688357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83830" y="3922859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83830" y="4157361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16902" y="451667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50" b="1">
                <a:solidFill>
                  <a:srgbClr val="B42318"/>
                </a:solidFill>
                <a:latin typeface="Calibri"/>
              </a:rPr>
              <a:t>NO IMPORT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6983" y="2228392"/>
            <a:ext cx="2800350" cy="416052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0135" y="2274112"/>
            <a:ext cx="2654046" cy="3246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7A2F05"/>
                </a:solidFill>
                <a:latin typeface="Calibri"/>
              </a:rPr>
              <a:t>extract.py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FR-9 payslip fields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+ confidence + location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6983" y="2769260"/>
            <a:ext cx="2800350" cy="416052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135" y="2814980"/>
            <a:ext cx="2654046" cy="3246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7A2F05"/>
                </a:solidFill>
                <a:latin typeface="Calibri"/>
              </a:rPr>
              <a:t>designation.py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FR-10 G5 judging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borderline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6983" y="3310128"/>
            <a:ext cx="2800350" cy="416052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135" y="3355848"/>
            <a:ext cx="2654046" cy="3246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7A2F05"/>
                </a:solidFill>
                <a:latin typeface="Calibri"/>
              </a:rPr>
              <a:t>reconcile.py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FR-11 name variants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exact-ID auto-accepts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6983" y="3850995"/>
            <a:ext cx="2800350" cy="416052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135" y="3896715"/>
            <a:ext cx="2654046" cy="3246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7A2F05"/>
                </a:solidFill>
                <a:latin typeface="Calibri"/>
              </a:rPr>
              <a:t>qa.py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FR-12 audit Q&amp;A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router + groundedness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9452" y="2311603"/>
            <a:ext cx="2688336" cy="183062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32604" y="2357323"/>
            <a:ext cx="2542032" cy="17391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ingest/ + validate/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accepts ADVISORIES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· mismatch flags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· needs_review marks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· HR confirmation queue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never a figure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99907" y="2311603"/>
            <a:ext cx="2800350" cy="832104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3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3059" y="2357323"/>
            <a:ext cx="2654046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calc/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method_a · method_b · variance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ALL arithmetic happens here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99907" y="3310128"/>
            <a:ext cx="2800350" cy="832104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3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3059" y="3355848"/>
            <a:ext cx="2654046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output/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edb_writer · soe · reports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ALL figures written here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64152" y="2436418"/>
            <a:ext cx="638480" cy="0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964152" y="2977286"/>
            <a:ext cx="638480" cy="0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964152" y="3518154"/>
            <a:ext cx="638480" cy="0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64152" y="4059021"/>
            <a:ext cx="638480" cy="0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51872" y="3821277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00" b="1">
                <a:solidFill>
                  <a:srgbClr val="B54708"/>
                </a:solidFill>
                <a:latin typeface="Calibri"/>
              </a:rPr>
              <a:t>reads only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04607" y="2727655"/>
            <a:ext cx="638480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800082" y="3201954"/>
            <a:ext cx="0" cy="108174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26948" y="4849520"/>
            <a:ext cx="10835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5A6472"/>
                </a:solidFill>
                <a:latin typeface="Calibri"/>
              </a:rPr>
              <a:t>GUARDRAILS   </a:t>
            </a:r>
            <a:r>
              <a:rPr sz="950" b="0">
                <a:solidFill>
                  <a:srgbClr val="0B0F17"/>
                </a:solidFill>
                <a:latin typeface="Calibri"/>
              </a:rPr>
              <a:t>temperature = 0.0 ·  response_format = json_schema, strict: True ·  sha256(prompt, model, schema) cache-and-replay ·  call() never raises into the pipeline ·  cache-replay is the determinism guarantee — not temperature (GPU is not bit-exact)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The boundary is a test, not a docstring: three tests import calc/ and validate/ in a subprocess and assert no edb_claim.llm* module ever reaches sys.modules.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LLM LAYER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Provider-agnostic, schema-constrained, replayable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One client wraps any OpenAI-compatible endpoint — the local Qwen 3.6 35B A3B on vLLM by default. The pipeline runs identically with no model at 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6446520" cy="2763012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22576"/>
            <a:ext cx="6080760" cy="2506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7FB0E0"/>
                </a:solidFill>
                <a:latin typeface="Consolas"/>
              </a:rPr>
              <a:t># llm/client.py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def call(self, prompt, *, schema=None, source_ref=None,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         confidence_hint=None) -&gt; LLMResult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cache_key = sha256(canonical_json(prompt, model, schema))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  # source_ref persisted but EXCLUDED from the key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transport: injected (tests) &gt; openai (enabled) &gt; None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no transport -&gt; typed 'unavailable'. call() NEVER raises.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temperature = 0.0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response_format = json_schema, strict: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57984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The honest determinism claim.  </a:t>
            </a:r>
            <a:r>
              <a:rPr sz="1050">
                <a:solidFill>
                  <a:srgbClr val="0B0F17"/>
                </a:solidFill>
                <a:latin typeface="Calibri"/>
              </a:rPr>
              <a:t>Temperature 0 maximises stability but GPU inference is not bit-exact. The cache-and-replay log is the actual determinism guarantee — and because source_ref is outside the cache key, the same question about the same figure replays identically regardless of which document surfaced it.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Graceful degradation is a feature, not a fallback.  </a:t>
            </a:r>
            <a:r>
              <a:rPr sz="1050">
                <a:solidFill>
                  <a:srgbClr val="0B0F17"/>
                </a:solidFill>
                <a:latin typeface="Calibri"/>
              </a:rPr>
              <a:t>The deterministic pipeline is the product; the model is an assistant on top of it. test_no_endpoint_still_replays_cache pins that.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Four schemas, no prompt files.  </a:t>
            </a:r>
            <a:r>
              <a:rPr sz="1050">
                <a:solidFill>
                  <a:srgbClr val="0B0F17"/>
                </a:solidFill>
                <a:latin typeface="Calibri"/>
              </a:rPr>
              <a:t>_EXTRACT_SCHEMA, _JUDGE_SCHEMA, _MATCH_SCHEMA, _ANSWER_SCHEMA. Prompts are inline functions, versioned with the code that depends on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LLM LAYER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FR-9 / FR-10 / FR-11 — deterministic first, model second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516636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Each capability narrows what the model may touch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21408"/>
            <a:ext cx="5166360" cy="402336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478231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FR-9 extraction.  </a:t>
            </a:r>
            <a:r>
              <a:rPr sz="1050">
                <a:solidFill>
                  <a:srgbClr val="0B0F17"/>
                </a:solidFill>
                <a:latin typeface="Calibri"/>
              </a:rPr>
              <a:t>Payslip → fixed JSON with a 0–1 confidence and a source location per field. The deterministic parser stays authoritative; the model's output produces cross-check ADVISORIES, never a replacement figure.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FR-10 designation judging.  </a:t>
            </a:r>
            <a:r>
              <a:rPr sz="1050">
                <a:solidFill>
                  <a:srgbClr val="0B0F17"/>
                </a:solidFill>
                <a:latin typeface="Calibri"/>
              </a:rPr>
              <a:t>judge_review_cases batches only the employees the G5 keyword gate already marked needs_review. The judgement reports agreement or disagreement with the gate and never overrides it.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FR-11 reconciliation.  </a:t>
            </a:r>
            <a:r>
              <a:rPr sz="1050">
                <a:solidFill>
                  <a:srgbClr val="0B0F17"/>
                </a:solidFill>
                <a:latin typeface="Calibri"/>
              </a:rPr>
              <a:t>Deterministic first: _norm_name, a token-frozenset _name_key for word-order variants, Levenshtein ≤ 1 for typos. Exact employee-ID auto-accepts with used_model False. Only genuinely ambiguous pairs reach the model, and they land in an HR confirmation queue.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664208"/>
            <a:ext cx="5166360" cy="457200"/>
          </a:xfrm>
          <a:prstGeom prst="rect">
            <a:avLst/>
          </a:prstGeom>
          <a:solidFill>
            <a:srgbClr val="13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664208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Nothing is discarded, everything is surfaced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2121408"/>
            <a:ext cx="5166360" cy="402336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267712"/>
            <a:ext cx="478231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confidence_cutoff = 0.85 is a SURFACING threshold.  </a:t>
            </a:r>
            <a:r>
              <a:rPr sz="1050">
                <a:solidFill>
                  <a:srgbClr val="0B0F17"/>
                </a:solidFill>
                <a:latin typeface="Calibri"/>
              </a:rPr>
              <a:t>Below it, the response is still shown — annotated with a plain-language reason: 'The model reported 72% confidence, below the 85% review threshold.' HR is never handed a black box, and never handed a silent omission either.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A failed check annotates, it does not suppress.  </a:t>
            </a:r>
            <a:r>
              <a:rPr sz="1050">
                <a:solidFill>
                  <a:srgbClr val="0B0F17"/>
                </a:solidFill>
                <a:latin typeface="Calibri"/>
              </a:rPr>
              <a:t>groundedness.py:12 states it directly. An ungrounded answer is displayed with ⚠ Unverified figure attached.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Why this ordering.  </a:t>
            </a:r>
            <a:r>
              <a:rPr sz="1050">
                <a:solidFill>
                  <a:srgbClr val="0B0F17"/>
                </a:solidFill>
                <a:latin typeface="Calibri"/>
              </a:rPr>
              <a:t>Every LLM capability sits where a wrong answer costs an advisory, a review flag or a queue entry — never a claim figure.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LLM LAYER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Audit Q&amp;A — a deterministic router with a verified 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One public method. The router is ordinary Python; the model speaks on exactly one branch, and every branch is verified before display.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6446520" cy="2348229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22576"/>
            <a:ext cx="6080760" cy="2092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7FB0E0"/>
                </a:solidFill>
                <a:latin typeface="Consolas"/>
              </a:rPr>
              <a:t># llm/qa.py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def answer(self, question, result=None) -&gt; Answer: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    return self._verify(self._route(q, result), result, q)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7FB0E0"/>
                </a:solidFill>
                <a:latin typeface="Consolas"/>
              </a:rPr>
              <a:t># _route — first match wins, model reached only at the end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1  _find_employee(live)   -&gt; _employee / _evidence / _docs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2  _find_record_in_db()   -&gt; _record_from_db  # exact SQL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3  total intent           -&gt; _totals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4  counting / listing     -&gt; _roster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5  fallback               -&gt; _scheme  &lt;- ONLY model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57984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Figures come from rows, prose comes from retrieval.  </a:t>
            </a:r>
            <a:r>
              <a:rPr sz="1050">
                <a:solidFill>
                  <a:srgbClr val="0B0F17"/>
                </a:solidFill>
                <a:latin typeface="Calibri"/>
              </a:rPr>
              <a:t>Branches 1–4 read structured values — the figures ARE the rows, so confidence is 1.0 by construction. Only branch 5 generates language.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_verify runs on every branch, including the deterministic ones.  </a:t>
            </a:r>
            <a:r>
              <a:rPr sz="1050">
                <a:solidFill>
                  <a:srgbClr val="0B0F17"/>
                </a:solidFill>
                <a:latin typeface="Calibri"/>
              </a:rPr>
              <a:t>allowed_figures unions the live PipelineResult, persisted store rows via exact SQL, numerals appearing verbatim in retrieved scheme text, and 12 config constants. Anything outside that set within 0.01 is flagged.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Exactly one derivation is permitted.  </a:t>
            </a:r>
            <a:r>
              <a:rPr sz="1050">
                <a:solidFill>
                  <a:srgbClr val="0B0F17"/>
                </a:solidFill>
                <a:latin typeface="Calibri"/>
              </a:rPr>
              <a:t>Cap-then-rate, and only on figures the user named in the question. Widening the bases to the whole roster would make almost any five-figure number derivable from some row × 0.6 — which is the hallucination the check exists to catch.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LLM LAYER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Groundedness is shown, not claimed</a:t>
            </a:r>
          </a:p>
        </p:txBody>
      </p:sp>
      <p:pic>
        <p:nvPicPr>
          <p:cNvPr id="6" name="Picture 5" descr="crop_live_8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244" y="1645920"/>
            <a:ext cx="3185031" cy="4114799"/>
          </a:xfrm>
          <a:prstGeom prst="rect">
            <a:avLst/>
          </a:prstGeom>
          <a:ln w="12700">
            <a:solidFill>
              <a:srgbClr val="D7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995160" y="1627632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▸  </a:t>
            </a:r>
            <a:r>
              <a:rPr sz="1100" b="1">
                <a:solidFill>
                  <a:srgbClr val="0B0F17"/>
                </a:solidFill>
                <a:latin typeface="Calibri"/>
              </a:rPr>
              <a:t>A verified answer, live.  </a:t>
            </a:r>
            <a:r>
              <a:rPr sz="1100">
                <a:solidFill>
                  <a:srgbClr val="0B0F17"/>
                </a:solidFill>
                <a:latin typeface="Calibri"/>
              </a:rPr>
              <a:t>Offline mode, no model connected — the badge reads “✓ Figures verified · confidence 100%” because the figure IS a claim row: the router matched ANS-001 in the live result and read $34,200.00 straight out of it.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▸  </a:t>
            </a:r>
            <a:r>
              <a:rPr sz="1100" b="1">
                <a:solidFill>
                  <a:srgbClr val="0B0F17"/>
                </a:solidFill>
                <a:latin typeface="Calibri"/>
              </a:rPr>
              <a:t>The badge is measured, not decorative.  </a:t>
            </a:r>
            <a:r>
              <a:rPr sz="1100">
                <a:solidFill>
                  <a:srgbClr val="0B0F17"/>
                </a:solidFill>
                <a:latin typeface="Calibri"/>
              </a:rPr>
              <a:t>check() re-extracts every figure from the rendered answer and matches it against allowed_figures() within Decimal('0.01') before display. An answer that failed would still be shown, annotated “⚠ Unverified figure” with a plain-language reason.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▸  </a:t>
            </a:r>
            <a:r>
              <a:rPr sz="1100" b="1">
                <a:solidFill>
                  <a:srgbClr val="0B0F17"/>
                </a:solidFill>
                <a:latin typeface="Calibri"/>
              </a:rPr>
              <a:t>It volunteers the caveat.  </a:t>
            </a:r>
            <a:r>
              <a:rPr sz="1100">
                <a:solidFill>
                  <a:srgbClr val="0B0F17"/>
                </a:solidFill>
                <a:latin typeface="Calibri"/>
              </a:rPr>
              <a:t>The answer names the Method B disagreement unprompted and points at the next action — “fetch the evidence for Lim Jia Hao” — rather than presenting one number as settled.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▸  </a:t>
            </a:r>
            <a:r>
              <a:rPr sz="1100" b="1">
                <a:solidFill>
                  <a:srgbClr val="0B0F17"/>
                </a:solidFill>
                <a:latin typeface="Calibri"/>
              </a:rPr>
              <a:t>Note the header parity.  </a:t>
            </a:r>
            <a:r>
              <a:rPr sz="1100">
                <a:solidFill>
                  <a:srgbClr val="0B0F17"/>
                </a:solidFill>
                <a:latin typeface="Calibri"/>
              </a:rPr>
              <a:t>13 claimable, 1 needs a document, 5 not eligible, $492,934.55 — the same figures the eval harness reports, because both read the same PipelineResult.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Captured from the running app on sample_data at a 60% support rate. Cosmetic bug visible here and left alone: the chat panel renders the model's markdown literally, so **bold** shows its asterisks.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PERSISTENCE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One local SQLite file, employee_id as partition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16 tables declared in db/schema.py. All writes are UPSERTs; no table has a DEFAULT CURRENT_TIMESTAMP, so time is always passed in — a precondition for reproducible runs. Migrations are PRAGMA table_info + ALTER TABLE, idempotent.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9424"/>
            <a:ext cx="292608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49424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2249424"/>
            <a:ext cx="603504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2" y="2249424"/>
            <a:ext cx="5943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2249424"/>
            <a:ext cx="219456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7232" y="2249424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Live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578608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employee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2578608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roster identity, designation, hire type, citizenship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7232" y="2578608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1178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811780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811780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employee_identifier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2" y="2811780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(id_type, id_value) → employee_id; NRIC, alias,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2811780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044952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044952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employee_document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2" y="3044952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the FR-2 completeness matrix, persisted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3044952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278124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278124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278124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person_month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2" y="3278124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(employee, year, month) basic_salary + 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3278124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511296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511296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gate_result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2192" y="3511296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one row per (employee, gate) with reason + ref_id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3511296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238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374446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3744468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3744468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verdict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2192" y="3744468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status + failed_gates JSON + reasons JSON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57232" y="3744468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397764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3977640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calc_result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22192" y="3977640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(employee, method) — 34 people × Method A and 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3977640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68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4210812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" y="4210812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4210812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evidence_ref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22192" y="4210812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UNIQUE(employee_id, figure_key) — the FR-7 spine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4210812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4443984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" y="4443984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document / doc_blob / doc_link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22192" y="4443984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metadata split from bytes so scans skip content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7232" y="4443984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 blobs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4677156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" y="4677156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" y="4677156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llm_log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22192" y="4677156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prompt, raw response, parsed, confidence, run_id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57232" y="4677156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" y="491032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2" y="4910328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run_manifest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22192" y="4910328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config_hash, support_rate, code_version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57232" y="4910328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" y="514350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" y="5143500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6112" y="5143500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chunk / chunk_vec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22192" y="5143500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vec0 virtual table, FLOAT[384] — sqlite-vec active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57232" y="5143500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" y="5376672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Row counts are the COMMITTED DEV DB, accumulated across sample_data + testkit + altdata runs — not one claim. Two-path retrieval is the design: exact SQL for figures, vector search for narrative. chunk_vec is created and sqlite-vec is loaded (its shadow tables are present), but populating it is the remaining step, so today's narrative path is keyword retrieval over the 11-entry SCHEME_KB. person_month, llm_log and run_manifest all have writers that neither front-end calls yet — the per-month breakdown is recomputed from the workbooks each run, and the LLM trail lives in a 101 KB JSON replay cache.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EVIDENCE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Every figure back to its cell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" y="3642969"/>
            <a:ext cx="1680210" cy="915314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3688689"/>
            <a:ext cx="1533906" cy="8238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Source cell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Time Sheet!G19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payroll!E7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read once, at parse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642969"/>
            <a:ext cx="1680210" cy="91531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3688689"/>
            <a:ext cx="1533906" cy="8238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EvidenceRef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{file, sheet,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cell_or_row, label}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travels with the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9452" y="3642969"/>
            <a:ext cx="1680210" cy="915314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2604" y="3688689"/>
            <a:ext cx="1533906" cy="8238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evidence_ref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312 live rows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UNIQUE(employee_id,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figure_key)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42969"/>
            <a:ext cx="1680210" cy="9153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48856" y="3688689"/>
            <a:ext cx="1533906" cy="8238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3355E"/>
                </a:solidFill>
                <a:latin typeface="Calibri"/>
              </a:rPr>
              <a:t>/api/preview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resolves via the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session file registry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1956" y="3642969"/>
            <a:ext cx="1680210" cy="9153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5108" y="3688689"/>
            <a:ext cx="1533906" cy="8238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3355E"/>
                </a:solidFill>
                <a:latin typeface="Calibri"/>
              </a:rPr>
              <a:t>Evidence.tsx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sheet grid,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focus cell highlighted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one click from any figure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061972"/>
            <a:ext cx="3696462" cy="748893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2107692"/>
            <a:ext cx="3550158" cy="6574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05024"/>
                </a:solidFill>
                <a:latin typeface="Calibri"/>
              </a:rPr>
              <a:t>Claim row figure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Manpower_Locals col H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every figure carries its ref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5704" y="2061972"/>
            <a:ext cx="3696462" cy="748893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8856" y="2107692"/>
            <a:ext cx="3550158" cy="6574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05024"/>
                </a:solidFill>
                <a:latin typeface="Calibri"/>
              </a:rPr>
              <a:t>Practitioner (SSRS 4400)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samples ≥ 85% of claimed value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against the Statement of Expenditure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07158" y="4100626"/>
            <a:ext cx="33604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23410" y="4100626"/>
            <a:ext cx="33604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39662" y="4100626"/>
            <a:ext cx="33604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55914" y="4100626"/>
            <a:ext cx="33604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83305" y="2869112"/>
            <a:ext cx="0" cy="71561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39662" y="2436418"/>
            <a:ext cx="33604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SSRS 4400 agreed-upon procedures: the Practitioner samples at least 85% of claimed value. That requirement is why EvidenceRef is threaded from the parser rather than reconstructed at export.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OUTPUTS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Three writers for three readers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516636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Template fidelity is asserted, not hoped for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21408"/>
            <a:ext cx="5166360" cy="402336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478231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edb_writer.py — EDB's official template.  </a:t>
            </a:r>
            <a:r>
              <a:rPr sz="1050">
                <a:solidFill>
                  <a:srgbClr val="0B0F17"/>
                </a:solidFill>
                <a:latin typeface="Calibri"/>
              </a:rPr>
              <a:t>shutil.copyfile then load_workbook with formulas intact. Writes only the value cells (a)–(h) from row 5, plus the Details header. Re-creates I=ROUND(G{row}*H{row},2) and the K/L breach formulas for NEW ROWS ONLY, leaving the template's shipped rows untouched.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_assert_fidelity re-opens the saved file  </a:t>
            </a:r>
            <a:r>
              <a:rPr sz="1050">
                <a:solidFill>
                  <a:srgbClr val="0B0F17"/>
                </a:solidFill>
                <a:latin typeface="Calibri"/>
              </a:rPr>
              <a:t>and verifies H2/I2 still start with =SUM, that column K is still hidden, and that the last row's column I is still a ROUND formula. The check runs against the artifact, not the in-memory workbook.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A documented template bug, deliberately not fixed.  </a:t>
            </a:r>
            <a:r>
              <a:rPr sz="1050">
                <a:solidFill>
                  <a:srgbClr val="0B0F17"/>
                </a:solidFill>
                <a:latin typeface="Calibri"/>
              </a:rPr>
              <a:t>The I3 header label reads '= i × j' while the live formula is ROUND(G×H,2). Matching the label would change the arithmetic EDB's own template performs.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664208"/>
            <a:ext cx="5166360" cy="457200"/>
          </a:xfrm>
          <a:prstGeom prst="rect">
            <a:avLst/>
          </a:prstGeom>
          <a:solidFill>
            <a:srgbClr val="13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664208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Only qualifying rows, everyone else reported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2121408"/>
            <a:ext cx="5166360" cy="402336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267712"/>
            <a:ext cx="478231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soe.py — Statement of Expenditure.  </a:t>
            </a:r>
            <a:r>
              <a:rPr sz="1050">
                <a:solidFill>
                  <a:srgbClr val="0B0F17"/>
                </a:solidFill>
                <a:latin typeface="Calibri"/>
              </a:rPr>
              <a:t>6 styled sheets: cover, SOE, month-by-month workings, the A-vs-B cross-check, the evidence trail with file/sheet/cell, and excluded staff with reasons. This is the auditor's document.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reports.py — Issues to fix.  </a:t>
            </a:r>
            <a:r>
              <a:rPr sz="1050">
                <a:solidFill>
                  <a:srgbClr val="0B0F17"/>
                </a:solidFill>
                <a:latin typeface="Calibri"/>
              </a:rPr>
              <a:t>HR's action list. Amber 'Fixable — upload the missing document and re-run'; red 'Not claimable — confirm the reason'.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One submission file per entity that has at least one qualifier.  </a:t>
            </a:r>
            <a:r>
              <a:rPr sz="1050">
                <a:solidFill>
                  <a:srgbClr val="0B0F17"/>
                </a:solidFill>
                <a:latin typeface="Calibri"/>
              </a:rPr>
              <a:t>Uses the HR-uploaded template when present, else the shipped docs/EDB_Output Template.xlsx.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SURFACES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Six endpoints, NDJSON streaming, one seam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Both front-ends converge on run_pipeline(). The UI computes nothing — every figure on screen came from the deterministic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9424"/>
            <a:ext cx="118872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49424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249424"/>
            <a:ext cx="329184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2" y="2249424"/>
            <a:ext cx="3200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2249424"/>
            <a:ext cx="667512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6672" y="2249424"/>
            <a:ext cx="65836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57860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57860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/api/health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2578608"/>
            <a:ext cx="6583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llm_enabled, support_rate, claim_period, application_no — drives the top bar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5292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852928"/>
            <a:ext cx="11155680" cy="27432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85292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2" y="285292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/api/analyze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2852928"/>
            <a:ext cx="6583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multipart upload + 11 checklist flags → StreamingResponse of NDJSON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12724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12724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2" y="312724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/api/preview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3127248"/>
            <a:ext cx="6583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{session, file, sheet, cell} → the cited sheet as a grid + focus cell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40156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401568"/>
            <a:ext cx="11155680" cy="27432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2" y="340156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/api/chat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3401568"/>
            <a:ext cx="6583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{session, question} → text, citations, grounded, confidence,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67588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67588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2" y="367588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/api/downloads/{session}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3675888"/>
            <a:ext cx="6583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builds the submission pack on first 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395020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3950208"/>
            <a:ext cx="11155680" cy="27432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395020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84832" y="395020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/api/download/{session}/{file}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6672" y="3950208"/>
            <a:ext cx="6583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FileResponse of one xlsx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422452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334256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Streaming is narrative, on purpose.  </a:t>
            </a:r>
            <a:r>
              <a:rPr sz="1050">
                <a:solidFill>
                  <a:srgbClr val="0B0F17"/>
                </a:solidFill>
                <a:latin typeface="Calibri"/>
              </a:rPr>
              <a:t>progress events are emitted with 0.35s pauses so the loading screen reads as an audit trail being assembled rather than a spinner. Then one result or one error event.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Session state is in-memory only.  </a:t>
            </a:r>
            <a:r>
              <a:rPr sz="1050">
                <a:solidFill>
                  <a:srgbClr val="0B0F17"/>
                </a:solidFill>
                <a:latin typeface="Calibri"/>
              </a:rPr>
              <a:t>a module-level dict keyed by uuid4 — no multi-worker support, lost on restart. Acceptable for a single-user local POC; the first thing to change for pilot.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Persistence is best-effort.  </a:t>
            </a:r>
            <a:r>
              <a:rPr sz="1050">
                <a:solidFill>
                  <a:srgbClr val="0B0F17"/>
                </a:solidFill>
                <a:latin typeface="Calibri"/>
              </a:rPr>
              <a:t>persist_result is wrapped so a store failure can never lose a computed claim.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DETERMINISM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Same inputs, byte-identical outputs — demonstrated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Determinism is an audit requirement, so it is tested as a property rather than asserted as an intention. Re-verified live while building this deck.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76272"/>
            <a:ext cx="2491740" cy="137160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76272"/>
            <a:ext cx="50800" cy="13716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A7F37"/>
                </a:solidFill>
                <a:latin typeface="Calibri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2174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shasum -c on a re-run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99232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5A6472"/>
                </a:solidFill>
                <a:latin typeface="Calibri"/>
              </a:rPr>
              <a:t>eval_report.json byte-identical; no timestamp in the harness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7580" y="2176272"/>
            <a:ext cx="2491740" cy="137160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7580" y="2176272"/>
            <a:ext cx="50800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60" y="2286000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0460" y="2743200"/>
            <a:ext cx="22174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same-input identity assertions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0460" y="2999232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5A6472"/>
                </a:solidFill>
                <a:latin typeface="Calibri"/>
              </a:rPr>
              <a:t>method_a, method_b, variance, verdict, ingest, cache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176272"/>
            <a:ext cx="2491740" cy="137160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176272"/>
            <a:ext cx="50800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286000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43200"/>
            <a:ext cx="22174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import-boundary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99232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5A6472"/>
                </a:solidFill>
                <a:latin typeface="Calibri"/>
              </a:rPr>
              <a:t>subprocess + sys.modules: calc/ and validate/ never see llm/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46820" y="2176272"/>
            <a:ext cx="2491740" cy="137160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46820" y="2176272"/>
            <a:ext cx="50800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9700" y="2286000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131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9700" y="2743200"/>
            <a:ext cx="22174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tests passing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9700" y="2999232"/>
            <a:ext cx="22174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5A6472"/>
                </a:solidFill>
                <a:latin typeface="Calibri"/>
              </a:rPr>
              <a:t>across 15 files, in 11.3s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749040"/>
            <a:ext cx="10515600" cy="1933447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3877056"/>
            <a:ext cx="10149840" cy="167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7FB0E0"/>
                </a:solidFill>
                <a:latin typeface="Consolas"/>
              </a:rPr>
              <a:t># the boundary test that makes the architecture diagram true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shasum eval_report.json &gt; before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python -m edb_claim.eval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shasum -c before          -&gt;  eval_report.json: OK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# tests/test_method_a.py — AST over real import statements, not the docstring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test_calc_does_not_import_llm      test_variance_does_not_import_llm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D7E3F4"/>
                </a:solidFill>
                <a:latin typeface="Consolas"/>
              </a:rPr>
              <a:t>test_verdict_does_not_import_llm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The AST approach is deliberate: a naive grep would match the module name in a docstring that merely explains the boundary. These tests inspect real import statements, then confirm in a subprocess that no edb_claim.llm* module was loaded.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EVALUATION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What 33/33 does and does not mean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10515600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63500" cy="841248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19072"/>
            <a:ext cx="6766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3355E"/>
                </a:solidFill>
                <a:latin typeface="Calibri"/>
              </a:rPr>
              <a:t>33 / 33 probes emitted zero unsupported figures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472"/>
                </a:solidFill>
                <a:latin typeface="Consolas"/>
              </a:rPr>
              <a:t>mode: "offline"  ·  model: null  ·  used_model: false on all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73736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54708"/>
                </a:solidFill>
                <a:latin typeface="Calibri"/>
              </a:rPr>
              <a:t>Groundedness is an anti-hallucination gate, not a correctness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70048"/>
            <a:ext cx="6903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What the scorer actually checks.  </a:t>
            </a:r>
            <a:r>
              <a:rPr sz="1050">
                <a:solidFill>
                  <a:srgbClr val="0B0F17"/>
                </a:solidFill>
                <a:latin typeface="Calibri"/>
              </a:rPr>
              <a:t>Four conditions per probe: the grounded flag matches expectation, the router landed on the declared branch, the answer quotes the pipeline figure to the cent (Decimal('0.01')), and expected substrings are present. Plus FR-14: an ungrounded or low-confidence answer must carry a confidence_reason or it fails.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Why a perfect offline score is structural.  </a:t>
            </a:r>
            <a:r>
              <a:rPr sz="1050">
                <a:solidFill>
                  <a:srgbClr val="0B0F17"/>
                </a:solidFill>
                <a:latin typeface="Calibri"/>
              </a:rPr>
              <a:t>Offline, _scheme returns the top keyword-retrieved SCHEME_KB entry VERBATIM — _retrieve scores len(qtok &amp; cand) + 2×len(title ∩ qtok) over 11 inline entries. A non-answer satisfies a groundedness gate vacuously, because it contains no figure to be wrong.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So all 5 adversarial probes pass by deflection, not by declining.  </a:t>
            </a:r>
            <a:r>
              <a:rPr sz="1050">
                <a:solidFill>
                  <a:srgbClr val="0B0F17"/>
                </a:solidFill>
                <a:latin typeface="Calibri"/>
              </a:rPr>
              <a:t>derivation · unknown_person · prompt_injection · off_topic · hypothetical. 'What is the capital of France?' returns the RIS(C) scheme overview. 'Ignore your previous instructions' returns floor/cap boilerplate. Neither is a refusal — and a refusal is what the criterion should be.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Three of four FR-14 scorers are unimplemented.  </a:t>
            </a:r>
            <a:r>
              <a:rPr sz="1050">
                <a:solidFill>
                  <a:srgbClr val="0B0F17"/>
                </a:solidFill>
                <a:latin typeface="Calibri"/>
              </a:rPr>
              <a:t>extraction, designation and reconciliation are registered as explicit status:'not_implemented' stubs so they appear in every report rather than being silently absent.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3568" y="2670048"/>
            <a:ext cx="3364992" cy="1170432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30358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E6EEF8"/>
                </a:solidFill>
                <a:latin typeface="Calibri"/>
              </a:rPr>
              <a:t>"a 100% score over 0 model answers proves nothing about the model."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493008"/>
            <a:ext cx="3035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9FB0C4"/>
                </a:solidFill>
                <a:latin typeface="Calibri"/>
              </a:rPr>
              <a:t>edb_claim/eval/harness.py:238 — the harness says so about itself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8" y="3950208"/>
            <a:ext cx="3364992" cy="932688"/>
          </a:xfrm>
          <a:prstGeom prst="rect">
            <a:avLst/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40233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A2F05"/>
                </a:solidFill>
                <a:latin typeface="Calibri"/>
              </a:rPr>
              <a:t>The model-connected run is the one that can fail. It has not been run: the Qwen endpoint is deferred, so every number above describes the deterministic paths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4828032"/>
            <a:ext cx="33649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1">
                <a:solidFill>
                  <a:srgbClr val="5A6472"/>
                </a:solidFill>
                <a:latin typeface="Calibri"/>
              </a:rPr>
              <a:t>33 PROBES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3568" y="5010912"/>
            <a:ext cx="647598" cy="56692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5047488"/>
            <a:ext cx="64759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5285232"/>
            <a:ext cx="6475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00" b="0">
                <a:solidFill>
                  <a:srgbClr val="5A6472"/>
                </a:solidFill>
                <a:latin typeface="Calibri"/>
              </a:rPr>
              <a:t>figure (data)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6566" y="5010912"/>
            <a:ext cx="647598" cy="56692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6566" y="5047488"/>
            <a:ext cx="64759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6566" y="5285232"/>
            <a:ext cx="6475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00" b="0">
                <a:solidFill>
                  <a:srgbClr val="5A6472"/>
                </a:solidFill>
                <a:latin typeface="Calibri"/>
              </a:rPr>
              <a:t>exclusion / roster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19564" y="5010912"/>
            <a:ext cx="647598" cy="56692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9564" y="5047488"/>
            <a:ext cx="64759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9564" y="5285232"/>
            <a:ext cx="6475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00" b="0">
                <a:solidFill>
                  <a:srgbClr val="5A6472"/>
                </a:solidFill>
                <a:latin typeface="Calibri"/>
              </a:rPr>
              <a:t>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92563" y="5010912"/>
            <a:ext cx="647598" cy="56692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92563" y="5047488"/>
            <a:ext cx="64759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2563" y="5285232"/>
            <a:ext cx="6475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00" b="0">
                <a:solidFill>
                  <a:srgbClr val="5A6472"/>
                </a:solidFill>
                <a:latin typeface="Calibri"/>
              </a:rPr>
              <a:t>scheme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5561" y="5010912"/>
            <a:ext cx="647598" cy="56692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65561" y="5047488"/>
            <a:ext cx="64759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5561" y="5285232"/>
            <a:ext cx="6475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00" b="0">
                <a:solidFill>
                  <a:srgbClr val="5A6472"/>
                </a:solidFill>
                <a:latin typeface="Calibri"/>
              </a:rPr>
              <a:t>adversarial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870448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9618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Ground truth is DERIVED, never hardcoded: expected figures come from a live pipeline run over sample_data/ at eval time, so the question set cannot drift from the fixtures. The one pinned constant in the project is the Method A oracle, 7,310.87, kept in tests/test_method_a.py.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GROUND TRUTH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The 13 deliberate error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PRD §8 defines the synthetic failure set the whole evaluation rests on. All 13 exist as fixtures in sample_data/expectations.json; the last column is where coverage is thinner than the fixture set suggests.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9424"/>
            <a:ext cx="54864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49424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249424"/>
            <a:ext cx="411480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2249424"/>
            <a:ext cx="4023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249424"/>
            <a:ext cx="155448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9552" y="2249424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Fixture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249424"/>
            <a:ext cx="237744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2249424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2249424"/>
            <a:ext cx="192024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1472" y="2249424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Unit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578608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2578608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Standard full-period 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2578608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ANS-001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578608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 = $34,200.00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2578608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811780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2811780"/>
            <a:ext cx="1051560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2811780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2811780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Mid-period joiner / leaver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2811780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ANS-002/003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2811780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Mar = 14/22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2811780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044952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044952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3044952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Salary S$4,800 below the floor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9552" y="3044952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DSG-001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3044952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EXCLUDED · G4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3044952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278124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3278124"/>
            <a:ext cx="1051560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3278124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44752" y="3278124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Salary S$23,000 hits the cap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59552" y="3278124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ANS-004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3278124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 = $72,000.00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3278124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3511296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3511296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4752" y="3511296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Foreigner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59552" y="3511296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DSG-002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4032" y="3511296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EXCLUDED · G1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1472" y="3511296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3744468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" y="3744468"/>
            <a:ext cx="1051560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3744468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4752" y="3744468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Not ECMF-validated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9552" y="3744468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DSG-003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4032" y="3744468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EXCLUDED · G2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91472" y="3744468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54708"/>
                </a:solidFill>
                <a:latin typeface="Calibri"/>
              </a:rPr>
              <a:t>none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3977640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3977640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44752" y="3977640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Enjoying another government grant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9552" y="3977640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DSG-004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14032" y="3977640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EXCLUDED · G3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3977640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54708"/>
                </a:solidFill>
                <a:latin typeface="Calibri"/>
              </a:rPr>
              <a:t>none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" y="4210812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" y="4210812"/>
            <a:ext cx="1051560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6112" y="4210812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44752" y="4210812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'HR Manager' designation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9552" y="4210812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DSG-005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14032" y="4210812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EXCLUDED · G5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91472" y="4210812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54708"/>
                </a:solidFill>
                <a:latin typeface="Calibri"/>
              </a:rPr>
              <a:t>none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4443984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6112" y="4443984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44752" y="4443984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New Hire, no timesheet hours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9552" y="4443984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ANS-005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14032" y="4443984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 = $0.00, B &gt; 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91472" y="4443984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yes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" y="4677156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2960" y="4677156"/>
            <a:ext cx="1051560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6112" y="4677156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44752" y="4677156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Missing payslip for a month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9552" y="4677156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DSG-006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14032" y="4677156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BLOCKED · G7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91472" y="4677156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yes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2960" y="4910328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6112" y="4910328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11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44752" y="4910328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Hours exceed monthly capacity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9552" y="4910328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ANS-006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14032" y="4910328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capacity warning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91472" y="4910328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54708"/>
                </a:solidFill>
                <a:latin typeface="Calibri"/>
              </a:rPr>
              <a:t>none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2960" y="5143500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22960" y="5143500"/>
            <a:ext cx="1051560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6112" y="5143500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44752" y="5143500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Name variant across documents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59552" y="5143500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ANS-003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14032" y="5143500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HR match queue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491472" y="5143500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yes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2960" y="5376672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6112" y="5376672"/>
            <a:ext cx="4572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13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44752" y="5376672"/>
            <a:ext cx="402336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Ambiguous designation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59552" y="5376672"/>
            <a:ext cx="14630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ANS-007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14032" y="5376672"/>
            <a:ext cx="22860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needs_review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491472" y="5376672"/>
            <a:ext cx="18288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A7F37"/>
                </a:solidFill>
                <a:latin typeface="Calibri"/>
              </a:rPr>
              <a:t>yes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22960" y="5609844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9 of 13 have a dedicated unit test. The 4 that do not — G2, G3, G5 and the hours-over-capacity cross-check — are covered only indirectly, through the three test_real_* end-to-end gate tests and the eval probes. PRD §11 DoD-1 asserts all 13 are caught, but that assertion lives in print-based scripts (sample_data/_verify.py, docs/demo/verify_calcs.py), not in a pytest acceptance module — PLAN.md T21 has no test file.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4630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STATUS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What is solid, what is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3401568" cy="420624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664208"/>
            <a:ext cx="32186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Verified end to 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84832"/>
            <a:ext cx="3401568" cy="2368296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12848"/>
            <a:ext cx="305409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131 tests passing across 15 files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Method A pinned to EDB's own $7,310.87 oracle, to the cent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eval_report.json byte-identical on re-run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3 AST tests hold the calc/ never-imports-llm/ boundary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Template fidelity asserted against the saved artifact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Every figure traceable to file · sheet · cell (312 refs)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664208"/>
            <a:ext cx="3401568" cy="420624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664208"/>
            <a:ext cx="32186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Open, and deliberately not decided in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084832"/>
            <a:ext cx="3401568" cy="2368296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212848"/>
            <a:ext cx="305409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1">
                <a:solidFill>
                  <a:srgbClr val="B54708"/>
                </a:solidFill>
                <a:latin typeface="Calibri"/>
              </a:rPr>
              <a:t>▸  </a:t>
            </a:r>
            <a:r>
              <a:rPr sz="950" b="1">
                <a:solidFill>
                  <a:srgbClr val="0B0F17"/>
                </a:solidFill>
                <a:latin typeface="Calibri"/>
              </a:rPr>
              <a:t>Q1 — method ruling  </a:t>
            </a:r>
            <a:r>
              <a:rPr sz="950">
                <a:solidFill>
                  <a:srgbClr val="0B0F17"/>
                </a:solidFill>
                <a:latin typeface="Calibri"/>
              </a:rPr>
              <a:t>which of A or B governs each edge case. Both ship, variance flagged.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B54708"/>
                </a:solidFill>
                <a:latin typeface="Calibri"/>
              </a:rPr>
              <a:t>▸  </a:t>
            </a:r>
            <a:r>
              <a:rPr sz="950" b="1">
                <a:solidFill>
                  <a:srgbClr val="0B0F17"/>
                </a:solidFill>
                <a:latin typeface="Calibri"/>
              </a:rPr>
              <a:t>Q3 — New-Hire 100% time  </a:t>
            </a:r>
            <a:r>
              <a:rPr sz="950">
                <a:solidFill>
                  <a:srgbClr val="0B0F17"/>
                </a:solidFill>
                <a:latin typeface="Calibri"/>
              </a:rPr>
              <a:t>acceptable without timesheets? Flagged, not resolved.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B54708"/>
                </a:solidFill>
                <a:latin typeface="Calibri"/>
              </a:rPr>
              <a:t>▸  </a:t>
            </a:r>
            <a:r>
              <a:rPr sz="950" b="1">
                <a:solidFill>
                  <a:srgbClr val="0B0F17"/>
                </a:solidFill>
                <a:latin typeface="Calibri"/>
              </a:rPr>
              <a:t>Q4 — auditor's document list  </a:t>
            </a:r>
            <a:r>
              <a:rPr sz="950">
                <a:solidFill>
                  <a:srgbClr val="0B0F17"/>
                </a:solidFill>
                <a:latin typeface="Calibri"/>
              </a:rPr>
              <a:t>FR-2 severities stay ASSUMED until confirmed.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B54708"/>
                </a:solidFill>
                <a:latin typeface="Calibri"/>
              </a:rPr>
              <a:t>▸  </a:t>
            </a:r>
            <a:r>
              <a:rPr sz="950" b="1">
                <a:solidFill>
                  <a:srgbClr val="0B0F17"/>
                </a:solidFill>
                <a:latin typeface="Calibri"/>
              </a:rPr>
              <a:t>Q5 — public holidays  </a:t>
            </a:r>
            <a:r>
              <a:rPr sz="950">
                <a:solidFill>
                  <a:srgbClr val="0B0F17"/>
                </a:solidFill>
                <a:latin typeface="Calibri"/>
              </a:rPr>
              <a:t>assumed not to reduce working days.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B54708"/>
                </a:solidFill>
                <a:latin typeface="Calibri"/>
              </a:rPr>
              <a:t>▸  </a:t>
            </a:r>
            <a:r>
              <a:rPr sz="950" b="1">
                <a:solidFill>
                  <a:srgbClr val="0B0F17"/>
                </a:solidFill>
                <a:latin typeface="Calibri"/>
              </a:rPr>
              <a:t>Q8 — entity count  </a:t>
            </a:r>
            <a:r>
              <a:rPr sz="950">
                <a:solidFill>
                  <a:srgbClr val="0B0F17"/>
                </a:solidFill>
                <a:latin typeface="Calibri"/>
              </a:rPr>
              <a:t>PRD says 17; the workbook's IHQ→GEC/GTO/IT split gives 18, and the code ships 18.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B54708"/>
                </a:solidFill>
                <a:latin typeface="Calibri"/>
              </a:rPr>
              <a:t>▸  </a:t>
            </a:r>
            <a:r>
              <a:rPr sz="950" b="1">
                <a:solidFill>
                  <a:srgbClr val="0B0F17"/>
                </a:solidFill>
                <a:latin typeface="Calibri"/>
              </a:rPr>
              <a:t>Q2 — CLOSED  </a:t>
            </a:r>
            <a:r>
              <a:rPr sz="950">
                <a:solidFill>
                  <a:srgbClr val="0B0F17"/>
                </a:solidFill>
                <a:latin typeface="Calibri"/>
              </a:rPr>
              <a:t>support rate confirmed at 60% (was 30% assumed).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18704" y="1664208"/>
            <a:ext cx="3401568" cy="420624"/>
          </a:xfrm>
          <a:prstGeom prst="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664208"/>
            <a:ext cx="32186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Known gaps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8704" y="2084832"/>
            <a:ext cx="3401568" cy="2368296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2212848"/>
            <a:ext cx="305409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completeness.py (856 lines) and gates.py (455) have no dedicated test file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3 of 4 FR-14 scorers are not_implemented stubs; no model-connected eval run yet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chunk/chunk_vec unpopulated — no chunker or embedder; narrative retrieval is keyword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llm_log and run_manifest have writers no front-end calls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API session state is in-memory only, single worker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09160"/>
            <a:ext cx="10515600" cy="105156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373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EDB RIS(C) Grant Claim Automation  ·  ST Engineering HR  ·  S26-10249-RIS(C)  ·  Technical deep-dive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