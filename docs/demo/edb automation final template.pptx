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2" r:id="rId4"/>
    <p:sldId id="283" r:id="rId5"/>
    <p:sldId id="259" r:id="rId6"/>
    <p:sldId id="258" r:id="rId7"/>
    <p:sldId id="260" r:id="rId8"/>
    <p:sldId id="261" r:id="rId9"/>
    <p:sldId id="262" r:id="rId10"/>
    <p:sldId id="263" r:id="rId11"/>
    <p:sldId id="266" r:id="rId12"/>
    <p:sldId id="284" r:id="rId13"/>
    <p:sldId id="264" r:id="rId14"/>
    <p:sldId id="286" r:id="rId15"/>
    <p:sldId id="269" r:id="rId16"/>
    <p:sldId id="285" r:id="rId17"/>
    <p:sldId id="271" r:id="rId18"/>
    <p:sldId id="270" r:id="rId19"/>
    <p:sldId id="273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7"/>
    <p:restoredTop sz="94635"/>
  </p:normalViewPr>
  <p:slideViewPr>
    <p:cSldViewPr snapToGrid="0">
      <p:cViewPr>
        <p:scale>
          <a:sx n="72" d="100"/>
          <a:sy n="72" d="100"/>
        </p:scale>
        <p:origin x="81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9A81-803E-E07C-BF24-3E9D5ECCA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E8231-C67B-44F0-89BC-28174CAA7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34E9-3D1B-686C-6867-2A9676AD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EC00-7A69-5D9E-D1DD-B0BF6740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83D2-3C5A-C67E-DE91-A9BC1D64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7FFA-B481-0419-35A2-6EB40102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6F907-5192-056B-F18E-17081262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8810F-549B-BD29-E9C5-C9AFA613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12EE-04AA-2B52-AA70-EEAAD110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21F23-1378-CDA8-15BB-F0886E39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6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590D-125B-671A-4CD3-F0B3EB95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6E9B-C560-3AE6-4592-DC38B7822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E2AB2-DF4D-3519-C245-DE0DFAFE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DE251-E2E5-795E-66A1-B8849AEC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709A4-214E-D491-9F1C-9294A9F2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3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FBE1-8E6C-F308-F556-65B146AE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F01E-E2EC-E0BF-CA70-CB78CA7AB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778C0-751C-1167-5BC5-C265244A3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C419-40A3-C8BD-7241-E52AFD70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96489-17E1-FDB3-6E53-FD828F07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D06CD-8C0F-F3C1-439C-4A0D8DC0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1152-CCD1-AE5D-97B1-699F061B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194E-0160-42BF-C618-BBF0F42CC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27F9B-B61A-6FDB-E583-A6FC2D028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C8F28-B823-994F-383C-A1E03307C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8979-19E1-55BC-7B7D-C581CA927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838C-1287-90F8-96EA-CB8935F2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A0686-1661-F3E5-1E9B-F76973FF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2AD15-2E70-A51D-4BBE-DE83FD9C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70A2-3688-4FAB-26B9-AB8D0B32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FD4FF-2397-773C-B860-FCDB981B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3717-EF74-05AF-8215-07DDA7FE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C33D0-91F8-133E-0648-AB53ED1A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5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2FD26-294C-9931-EF86-69AB24F9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7E4A4-F155-8948-2002-856D714A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145FE-C552-94B1-2462-DF1C344E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4C1F-DF73-40A9-5FA5-942393E7B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ABC9-B534-DCBC-5E0D-8208DC254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E1B65-28DF-DB11-7819-B585CAE91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76ECA-CFAF-C9ED-64EE-4214B261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7A746-2FF8-FC4E-C25D-3304F751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430A1-6629-82C6-C3E4-E18A42DC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7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0FBB-8DD3-CA0A-E7DA-EFBDF5CF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A7E41-0C4E-DD0E-2E13-D8BAEC574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1511F-A212-1A14-8938-D7014448B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58DF0-B027-E086-8499-87A337DF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00F41-D0FD-5D55-210C-E761A297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BF27-B134-55B2-ECC5-2B256C0E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9A3C-CA30-5E03-A372-BEF0C3559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46FED-62D0-458D-361B-795A103D0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3B0B-10D3-4002-F2F0-4248EF65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467D-FA6E-835C-C1A9-798E54D7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3B5B0-2556-61F2-38B7-D31F65A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8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3101B-7504-7EB9-4186-6891823E7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A06F8-F187-4D9D-0373-96FD3EFEB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B190-063D-0C40-C24E-992EF21D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FE78D-D57C-963C-BBCA-60DF53C6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27E4-7EF5-C0C9-E06C-D141E2E5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2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432B4-D51E-7CB8-627C-083A0E79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EC5BB-3FFB-119B-1B8C-C00062C6E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92179-73F2-4ACB-ACC9-70372D02A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1439-997E-512A-7B15-A2FED12E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7173-7E3D-E55E-B96A-66A99B957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6F62-1031-630C-39BB-A7B3CDE962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985B-781F-954D-68A6-383A0B195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9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06891-C25B-39E8-1AAC-24397A1BF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EDB (Economic Development Board) provides research grants to the organization for hiring employees related to certain research projects.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The grant is a crucial point for the organization and producing the right documents for each of the employee is time consuming as it’s a manual process.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A27A-073A-ABAF-0AB5-F666C336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2695-8C94-CF46-5AD6-A5F7642A3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297E2-EEF9-4C6F-E6DD-A876AF715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99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9D92-EB42-D57F-7119-86E44454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5088-D3C5-3CC7-FFDF-0E1B6EA03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- An agentic system for automating the document verification process for the HR.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The system is an intelligent agentic system helping to ease the process in an efficient manner (harness engineering to ensure trustable system for financial matters)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RAG for source grounding the chatbot responses related to the documents to ensure that the documents are available if in case HR is asked for producing the docs again </a:t>
            </a:r>
          </a:p>
        </p:txBody>
      </p:sp>
    </p:spTree>
    <p:extLst>
      <p:ext uri="{BB962C8B-B14F-4D97-AF65-F5344CB8AC3E}">
        <p14:creationId xmlns:p14="http://schemas.microsoft.com/office/powerpoint/2010/main" val="19198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BC55-E2AB-CDF9-5A20-3FBC54EA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AC0D-AB71-2E4F-BB9C-7CE9582CF8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Mental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85D6D-52C3-0462-B6E3-0A8D861826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5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0DD645-810E-9775-A41B-970B9BF51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009" y="1141413"/>
            <a:ext cx="11035981" cy="457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8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52AC-0B84-CA86-735E-7B676C6F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F916-2528-730F-4B4C-AF6CDCD45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A413F-397E-E9BD-9CCD-120EAB71A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6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3A2A-6D43-C118-E9B0-52425EDD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52C536-B5E9-B006-0984-069AE3D6E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6752" y="337544"/>
            <a:ext cx="6078495" cy="618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3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1EBF-4033-BCE0-DA1A-174454DB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D649-361A-2D1C-B078-9F50E3902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8299F-4323-31F5-2831-B0013C65F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84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9C43-B640-7F07-4793-7CDD9E5B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067DD-66D8-A33A-A3B4-C078FAC01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2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840B-FC2F-9B21-BF0E-692A343E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3EDE-9A26-3FB4-3928-E7DA953E0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Schema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C52D4-2B56-209B-98F6-B8BEFFEEF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>
                <a:solidFill>
                  <a:srgbClr val="0B0F17"/>
                </a:solidFill>
                <a:latin typeface="Calibri"/>
              </a:rPr>
              <a:t>One local SQLite file, </a:t>
            </a:r>
            <a:r>
              <a:rPr sz="2600" b="1" dirty="0" err="1">
                <a:solidFill>
                  <a:srgbClr val="0B0F17"/>
                </a:solidFill>
                <a:latin typeface="Calibri"/>
              </a:rPr>
              <a:t>employee_id</a:t>
            </a:r>
            <a:r>
              <a:rPr sz="2600" b="1" dirty="0">
                <a:solidFill>
                  <a:srgbClr val="0B0F17"/>
                </a:solidFill>
                <a:latin typeface="Calibri"/>
              </a:rPr>
              <a:t> as partition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16152"/>
            <a:ext cx="29260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16152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 dirty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216152"/>
            <a:ext cx="60350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1216152"/>
            <a:ext cx="5943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38360" y="1216152"/>
            <a:ext cx="21945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1512" y="1216152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Live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54533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54533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roster identity, designation, hire type, citizenship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154533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77850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77850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177850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employee_identifier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77850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(id_type, id_value) → employee_id; NRIC, alias,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7850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01168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201168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01168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the FR-2 completeness matrix, persisted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01168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24485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244852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224485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person_month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224485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year, month) basic_salary +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24485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47802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247802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gate_result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6472" y="247802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 dirty="0">
                <a:solidFill>
                  <a:srgbClr val="0B0F17"/>
                </a:solidFill>
                <a:latin typeface="Calibri"/>
              </a:rPr>
              <a:t>one row per (employee, gate) with reason + </a:t>
            </a:r>
            <a:r>
              <a:rPr sz="980" b="0" dirty="0" err="1">
                <a:solidFill>
                  <a:srgbClr val="0B0F17"/>
                </a:solidFill>
                <a:latin typeface="Calibri"/>
              </a:rPr>
              <a:t>ref_id</a:t>
            </a:r>
            <a:endParaRPr sz="980" b="0" dirty="0">
              <a:solidFill>
                <a:srgbClr val="0B0F17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11512" y="247802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271119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2711196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" y="271119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6472" y="271119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status + failed_gates JSON + reasons 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2" y="271119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29443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" y="294436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calc_result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294436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method) — 34 people × Method A and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294436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17754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" y="317754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317754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evidence_ref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76472" y="317754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UNIQUE(employee_id, figure_key) — the FR-7 spine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317754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41071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41071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document / doc_blob / doc_link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76472" y="341071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metadata split from bytes so scans skip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1512" y="341071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 blobs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364388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643884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0392" y="364388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llm_log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76472" y="364388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prompt, raw response, parsed, confidence, run_id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1512" y="364388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387705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" y="387705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run_manifest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6472" y="387705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config_hash, support_rate, code_version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1512" y="387705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41102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7240" y="411022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0392" y="411022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chunk / chunk_vec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76472" y="411022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vec0 virtual table, FLOAT[384] — sqlite-vec active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1512" y="411022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434340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B692-2496-F3C2-D682-E3673BDB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10D3-2644-9CAE-C9D9-720811EC2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7BDEF-A4FC-EDC5-6DAC-ABA9B8DE1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0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9DA84D22-7A58-E2E7-EFFB-A72C5A32013F}"/>
              </a:ext>
            </a:extLst>
          </p:cNvPr>
          <p:cNvGrpSpPr/>
          <p:nvPr/>
        </p:nvGrpSpPr>
        <p:grpSpPr>
          <a:xfrm>
            <a:off x="626633" y="626185"/>
            <a:ext cx="10938734" cy="5962874"/>
            <a:chOff x="805031" y="895126"/>
            <a:chExt cx="10515600" cy="4655891"/>
          </a:xfrm>
        </p:grpSpPr>
        <p:sp>
          <p:nvSpPr>
            <p:cNvPr id="6" name="Rectangle 5"/>
            <p:cNvSpPr/>
            <p:nvPr/>
          </p:nvSpPr>
          <p:spPr>
            <a:xfrm>
              <a:off x="805031" y="895126"/>
              <a:ext cx="10515600" cy="84124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805031" y="895126"/>
              <a:ext cx="63500" cy="841248"/>
            </a:xfrm>
            <a:prstGeom prst="rect">
              <a:avLst/>
            </a:prstGeom>
            <a:solidFill>
              <a:srgbClr val="B5470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33631" y="968278"/>
              <a:ext cx="6766560" cy="38404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900" b="1">
                  <a:solidFill>
                    <a:srgbClr val="13355E"/>
                  </a:solidFill>
                  <a:latin typeface="Calibri"/>
                </a:rPr>
                <a:t>33 / 33 probes emitted zero unsupported figures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33631" y="1334037"/>
              <a:ext cx="6766560" cy="3108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100" b="0">
                  <a:solidFill>
                    <a:srgbClr val="5A6472"/>
                  </a:solidFill>
                  <a:latin typeface="Consolas"/>
                </a:rPr>
                <a:t>mode: "offline"  ·  model: null  ·  used_model: false on all 33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83071" y="986566"/>
              <a:ext cx="3200400" cy="6858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200" b="1">
                  <a:solidFill>
                    <a:srgbClr val="B54708"/>
                  </a:solidFill>
                  <a:latin typeface="Calibri"/>
                </a:rPr>
                <a:t>Groundedness is an anti-hallucination gate, not a correctness gate.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05031" y="1919254"/>
              <a:ext cx="6903720" cy="36317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sz="1400" b="1" dirty="0">
                  <a:solidFill>
                    <a:srgbClr val="1F4E79"/>
                  </a:solidFill>
                  <a:latin typeface="Calibri"/>
                </a:rPr>
                <a:t>▸  </a:t>
              </a:r>
              <a:r>
                <a:rPr sz="1400" b="1" dirty="0">
                  <a:solidFill>
                    <a:srgbClr val="0B0F17"/>
                  </a:solidFill>
                  <a:latin typeface="Calibri"/>
                </a:rPr>
                <a:t>What the scorer actually checks.  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Four conditions per probe: the grounded flag matches expectation, the router landed on the declared branch, the answer quotes the pipeline figure to the cent (Decimal('0.01')), and expected substrings are present. Plus FR-14: an ungrounded or low-confidence answer must carry a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confidence_reason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or it fails.</a:t>
              </a:r>
            </a:p>
            <a:p>
              <a:pPr>
                <a:spcAft>
                  <a:spcPts val="800"/>
                </a:spcAft>
              </a:pPr>
              <a:r>
                <a:rPr sz="1400" b="1" dirty="0">
                  <a:solidFill>
                    <a:srgbClr val="1F4E79"/>
                  </a:solidFill>
                  <a:latin typeface="Calibri"/>
                </a:rPr>
                <a:t>▸  </a:t>
              </a:r>
              <a:r>
                <a:rPr sz="1400" b="1" dirty="0">
                  <a:solidFill>
                    <a:srgbClr val="0B0F17"/>
                  </a:solidFill>
                  <a:latin typeface="Calibri"/>
                </a:rPr>
                <a:t>Why a perfect offline score is structural.  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Offline, _scheme returns the top keyword-retrieved SCHEME_KB entry VERBATIM — _retrieve scores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len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(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qtok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&amp; cand) + 2×len(title ∩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qtok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) over 11 inline entries. A non-answer satisfies a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groundedness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gate vacuously, because it contains no figure to be wrong.</a:t>
              </a:r>
            </a:p>
            <a:p>
              <a:pPr>
                <a:spcAft>
                  <a:spcPts val="800"/>
                </a:spcAft>
              </a:pPr>
              <a:r>
                <a:rPr sz="1400" b="1" dirty="0">
                  <a:solidFill>
                    <a:srgbClr val="1F4E79"/>
                  </a:solidFill>
                  <a:latin typeface="Calibri"/>
                </a:rPr>
                <a:t>▸  </a:t>
              </a:r>
              <a:r>
                <a:rPr sz="1400" b="1" dirty="0">
                  <a:solidFill>
                    <a:srgbClr val="0B0F17"/>
                  </a:solidFill>
                  <a:latin typeface="Calibri"/>
                </a:rPr>
                <a:t>So all 5 adversarial probes pass by deflection, not by declining.  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derivation ·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unknown_person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·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prompt_injection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· 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off_topic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 · hypothetical. 'What is the capital of France?' returns the RIS(C) scheme overview. 'Ignore your previous instructions' returns floor/cap boilerplate. Neither is a refusal — and a refusal is what the criterion should be.</a:t>
              </a:r>
            </a:p>
            <a:p>
              <a:pPr>
                <a:spcAft>
                  <a:spcPts val="800"/>
                </a:spcAft>
              </a:pPr>
              <a:r>
                <a:rPr sz="1400" b="1" dirty="0">
                  <a:solidFill>
                    <a:srgbClr val="1F4E79"/>
                  </a:solidFill>
                  <a:latin typeface="Calibri"/>
                </a:rPr>
                <a:t>▸  </a:t>
              </a:r>
              <a:r>
                <a:rPr sz="1400" b="1" dirty="0">
                  <a:solidFill>
                    <a:srgbClr val="0B0F17"/>
                  </a:solidFill>
                  <a:latin typeface="Calibri"/>
                </a:rPr>
                <a:t>Three of four FR-14 scorers are unimplemented.  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extraction, designation and reconciliation are registered as explicit status:'</a:t>
              </a:r>
              <a:r>
                <a:rPr sz="1400" dirty="0" err="1">
                  <a:solidFill>
                    <a:srgbClr val="0B0F17"/>
                  </a:solidFill>
                  <a:latin typeface="Calibri"/>
                </a:rPr>
                <a:t>not_implemented</a:t>
              </a:r>
              <a:r>
                <a:rPr sz="1400" dirty="0">
                  <a:solidFill>
                    <a:srgbClr val="0B0F17"/>
                  </a:solidFill>
                  <a:latin typeface="Calibri"/>
                </a:rPr>
                <a:t>' stubs so they appear in every report rather than being silently absent.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955639" y="1919254"/>
              <a:ext cx="3364992" cy="1170432"/>
            </a:xfrm>
            <a:prstGeom prst="rect">
              <a:avLst/>
            </a:prstGeom>
            <a:solidFill>
              <a:srgbClr val="0B0F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120231" y="1992406"/>
              <a:ext cx="3035808" cy="7315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150" b="1">
                  <a:solidFill>
                    <a:srgbClr val="E6EEF8"/>
                  </a:solidFill>
                  <a:latin typeface="Calibri"/>
                </a:rPr>
                <a:t>"a 100% score over 0 model answers proves nothing about the model."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20231" y="2742214"/>
              <a:ext cx="3035808" cy="2926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850" b="0">
                  <a:solidFill>
                    <a:srgbClr val="9FB0C4"/>
                  </a:solidFill>
                  <a:latin typeface="Calibri"/>
                </a:rPr>
                <a:t>edb_claim/eval/harness.py:238 — the harness says so about itself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55639" y="3199414"/>
              <a:ext cx="3364992" cy="932688"/>
            </a:xfrm>
            <a:prstGeom prst="rect">
              <a:avLst/>
            </a:prstGeom>
            <a:solidFill>
              <a:srgbClr val="FD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92799" y="3272566"/>
              <a:ext cx="3108960" cy="82296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1000" b="0">
                  <a:solidFill>
                    <a:srgbClr val="7A2F05"/>
                  </a:solidFill>
                  <a:latin typeface="Calibri"/>
                </a:rPr>
                <a:t>The model-connected run is the one that can fail. It has not been run: the Qwen endpoint is deferred, so every number above describes the deterministic paths only.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55639" y="4077238"/>
              <a:ext cx="3364992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sz="850" b="1">
                  <a:solidFill>
                    <a:srgbClr val="5A6472"/>
                  </a:solidFill>
                  <a:latin typeface="Calibri"/>
                </a:rPr>
                <a:t>33 PROBES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955639" y="4260118"/>
              <a:ext cx="647598" cy="56692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955639" y="4296694"/>
              <a:ext cx="647598" cy="2377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300" b="1">
                  <a:solidFill>
                    <a:srgbClr val="1F4E79"/>
                  </a:solidFill>
                  <a:latin typeface="Calibri"/>
                </a:rPr>
                <a:t>8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55639" y="4534438"/>
              <a:ext cx="64759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700" b="0">
                  <a:solidFill>
                    <a:srgbClr val="5A6472"/>
                  </a:solidFill>
                  <a:latin typeface="Calibri"/>
                </a:rPr>
                <a:t>figure (data)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628637" y="4260118"/>
              <a:ext cx="647598" cy="56692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628637" y="4296694"/>
              <a:ext cx="647598" cy="2377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300" b="1">
                  <a:solidFill>
                    <a:srgbClr val="1F4E79"/>
                  </a:solidFill>
                  <a:latin typeface="Calibri"/>
                </a:rPr>
                <a:t>9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628637" y="4534438"/>
              <a:ext cx="64759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700" b="0">
                  <a:solidFill>
                    <a:srgbClr val="5A6472"/>
                  </a:solidFill>
                  <a:latin typeface="Calibri"/>
                </a:rPr>
                <a:t>exclusion / roster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301635" y="4260118"/>
              <a:ext cx="647598" cy="56692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301635" y="4296694"/>
              <a:ext cx="647598" cy="2377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300" b="1">
                  <a:solidFill>
                    <a:srgbClr val="1F4E79"/>
                  </a:solidFill>
                  <a:latin typeface="Calibri"/>
                </a:rPr>
                <a:t>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301635" y="4534438"/>
              <a:ext cx="64759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700" b="0">
                  <a:solidFill>
                    <a:srgbClr val="5A6472"/>
                  </a:solidFill>
                  <a:latin typeface="Calibri"/>
                </a:rPr>
                <a:t>evidence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974634" y="4260118"/>
              <a:ext cx="647598" cy="56692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74634" y="4296694"/>
              <a:ext cx="647598" cy="2377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300" b="1">
                  <a:solidFill>
                    <a:srgbClr val="1F4E79"/>
                  </a:solidFill>
                  <a:latin typeface="Calibri"/>
                </a:rPr>
                <a:t>8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974634" y="4534438"/>
              <a:ext cx="64759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700" b="0">
                  <a:solidFill>
                    <a:srgbClr val="5A6472"/>
                  </a:solidFill>
                  <a:latin typeface="Calibri"/>
                </a:rPr>
                <a:t>scheme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647632" y="4260118"/>
              <a:ext cx="647598" cy="566928"/>
            </a:xfrm>
            <a:prstGeom prst="rect">
              <a:avLst/>
            </a:prstGeom>
            <a:solidFill>
              <a:srgbClr val="F1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647632" y="4296694"/>
              <a:ext cx="647598" cy="23774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1300" b="1">
                  <a:solidFill>
                    <a:srgbClr val="1F4E79"/>
                  </a:solidFill>
                  <a:latin typeface="Calibri"/>
                </a:rPr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647632" y="4534438"/>
              <a:ext cx="647598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sz="700" b="0">
                  <a:solidFill>
                    <a:srgbClr val="5A6472"/>
                  </a:solidFill>
                  <a:latin typeface="Calibri"/>
                </a:rPr>
                <a:t>adversarial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3946-834E-0745-58BB-187595DF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7CC0-C921-3726-8D85-9A227277E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Models used &amp; why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277FA-2DB6-7123-FF12-D803FC93C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7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926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>
                <a:solidFill>
                  <a:srgbClr val="0B0F17"/>
                </a:solidFill>
                <a:latin typeface="Calibri"/>
              </a:rPr>
              <a:t>Provider-agnostic, schema-constrained, replay 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7" y="1313429"/>
            <a:ext cx="6281928" cy="3516127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5" y="1708404"/>
            <a:ext cx="6080760" cy="25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dirty="0">
                <a:solidFill>
                  <a:srgbClr val="7FB0E0"/>
                </a:solidFill>
                <a:latin typeface="Consolas"/>
              </a:rPr>
              <a:t># </a:t>
            </a:r>
            <a:r>
              <a:rPr sz="1150" dirty="0" err="1">
                <a:solidFill>
                  <a:srgbClr val="7FB0E0"/>
                </a:solidFill>
                <a:latin typeface="Consolas"/>
              </a:rPr>
              <a:t>llm</a:t>
            </a:r>
            <a:r>
              <a:rPr sz="1150" dirty="0">
                <a:solidFill>
                  <a:srgbClr val="7FB0E0"/>
                </a:solidFill>
                <a:latin typeface="Consolas"/>
              </a:rPr>
              <a:t>/</a:t>
            </a:r>
            <a:r>
              <a:rPr sz="1150" dirty="0" err="1">
                <a:solidFill>
                  <a:srgbClr val="7FB0E0"/>
                </a:solidFill>
                <a:latin typeface="Consolas"/>
              </a:rPr>
              <a:t>client.py</a:t>
            </a:r>
            <a:endParaRPr sz="1150" dirty="0">
              <a:solidFill>
                <a:srgbClr val="7FB0E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def call(self, prompt, *, schema=None,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source_ref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=None,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        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confidence_hint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=None) -&gt;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LLMResult</a:t>
            </a: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 err="1">
                <a:solidFill>
                  <a:srgbClr val="D7E3F4"/>
                </a:solidFill>
                <a:latin typeface="Consolas"/>
              </a:rPr>
              <a:t>cache_key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= sha256(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canonical_json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(prompt, model, schema))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  #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source_ref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persisted but EXCLUDED from the key</a:t>
            </a: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transport: injected (tests) &gt;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openai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(enabled) &gt; None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no transport -&gt; typed 'unavailable'. call() NEVER raises.</a:t>
            </a: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temperature = 0.</a:t>
            </a:r>
            <a:r>
              <a:rPr lang="en-US" sz="1150" dirty="0">
                <a:solidFill>
                  <a:srgbClr val="D7E3F4"/>
                </a:solidFill>
                <a:latin typeface="Consolas"/>
              </a:rPr>
              <a:t>0</a:t>
            </a: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 err="1">
                <a:solidFill>
                  <a:srgbClr val="D7E3F4"/>
                </a:solidFill>
                <a:latin typeface="Consolas"/>
              </a:rPr>
              <a:t>response_format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=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json_schema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, strict: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9964" y="1114235"/>
            <a:ext cx="4251099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The honest determinism claim.  </a:t>
            </a:r>
            <a:r>
              <a:rPr dirty="0">
                <a:solidFill>
                  <a:srgbClr val="0B0F17"/>
                </a:solidFill>
                <a:latin typeface="Calibri"/>
              </a:rPr>
              <a:t>Temperature 0 </a:t>
            </a:r>
            <a:r>
              <a:rPr dirty="0" err="1">
                <a:solidFill>
                  <a:srgbClr val="0B0F17"/>
                </a:solidFill>
                <a:latin typeface="Calibri"/>
              </a:rPr>
              <a:t>maximises</a:t>
            </a:r>
            <a:r>
              <a:rPr dirty="0">
                <a:solidFill>
                  <a:srgbClr val="0B0F17"/>
                </a:solidFill>
                <a:latin typeface="Calibri"/>
              </a:rPr>
              <a:t> stability but GPU inference is not bit-exact. The cache-and-replay log is the actual determinism guarantee — and because </a:t>
            </a:r>
            <a:r>
              <a:rPr dirty="0" err="1">
                <a:solidFill>
                  <a:srgbClr val="0B0F17"/>
                </a:solidFill>
                <a:latin typeface="Calibri"/>
              </a:rPr>
              <a:t>source_ref</a:t>
            </a:r>
            <a:r>
              <a:rPr dirty="0">
                <a:solidFill>
                  <a:srgbClr val="0B0F17"/>
                </a:solidFill>
                <a:latin typeface="Calibri"/>
              </a:rPr>
              <a:t> is outside the cache key, the same question about the same figure replays identically regardless of which document surfaced it.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Graceful degradation is a feature, not a fallback.  </a:t>
            </a:r>
            <a:r>
              <a:rPr dirty="0">
                <a:solidFill>
                  <a:srgbClr val="0B0F17"/>
                </a:solidFill>
                <a:latin typeface="Calibri"/>
              </a:rPr>
              <a:t>The deterministic pipeline is the product; the model is an assistant on top of it. </a:t>
            </a:r>
            <a:r>
              <a:rPr dirty="0" err="1">
                <a:solidFill>
                  <a:srgbClr val="0B0F17"/>
                </a:solidFill>
                <a:latin typeface="Calibri"/>
              </a:rPr>
              <a:t>test_no_endpoint_still_replays_cache</a:t>
            </a:r>
            <a:r>
              <a:rPr dirty="0">
                <a:solidFill>
                  <a:srgbClr val="0B0F17"/>
                </a:solidFill>
                <a:latin typeface="Calibri"/>
              </a:rPr>
              <a:t> pins that.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Four schemas, no prompt files.  </a:t>
            </a:r>
            <a:r>
              <a:rPr dirty="0">
                <a:solidFill>
                  <a:srgbClr val="0B0F17"/>
                </a:solidFill>
                <a:latin typeface="Calibri"/>
              </a:rPr>
              <a:t>_EXTRACT_SCHEMA, _JUDGE_SCHEMA, _MATCH_SCHEMA, _ANSWER_SCHEMA. Prompts are inline functions, versioned with the code that depends on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0BE1-A4BE-7DDF-D3D3-97AA5DC4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C3C4-6F65-47DC-88EC-AEBD816C1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3F91D-3DF4-097E-8897-80466911F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8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1E0E-B20B-CF49-3445-B839BD10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F474-946F-615A-7295-5B531E83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48BA-863C-DEDC-9146-0C01C6BB5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[on-prem </a:t>
            </a:r>
            <a:r>
              <a:rPr lang="en-US" dirty="0" err="1"/>
              <a:t>nvidia</a:t>
            </a:r>
            <a:r>
              <a:rPr lang="en-US" dirty="0"/>
              <a:t> </a:t>
            </a:r>
            <a:r>
              <a:rPr lang="en-US" dirty="0" err="1"/>
              <a:t>dgx</a:t>
            </a:r>
            <a:r>
              <a:rPr lang="en-US" dirty="0"/>
              <a:t> deployment]</a:t>
            </a:r>
          </a:p>
        </p:txBody>
      </p:sp>
    </p:spTree>
    <p:extLst>
      <p:ext uri="{BB962C8B-B14F-4D97-AF65-F5344CB8AC3E}">
        <p14:creationId xmlns:p14="http://schemas.microsoft.com/office/powerpoint/2010/main" val="1487111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4DA6-9076-C8C5-DB5E-13D6BBFE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7AAC-5740-1C96-02C2-29D5AC5FC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Impact of the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008FA-5EB6-3BC7-E28A-FB6B458B77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0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ABB3-D248-15D1-B563-1838E216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9595-DCE5-CB0A-3257-E0E56D95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60B3-F5D5-4DE9-9927-F5AD4796E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[advantages]</a:t>
            </a:r>
          </a:p>
        </p:txBody>
      </p:sp>
    </p:spTree>
    <p:extLst>
      <p:ext uri="{BB962C8B-B14F-4D97-AF65-F5344CB8AC3E}">
        <p14:creationId xmlns:p14="http://schemas.microsoft.com/office/powerpoint/2010/main" val="2194550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B220-5A43-B03D-1563-72ABFCEF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1098-221A-C015-E395-A3D2AC186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C001-BB1A-3110-E3EB-5D4069E66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71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CBEE-1CED-80CE-571D-C99D07D7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B2D945-BE6D-E44F-01E1-E4D1CDF50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0FE97B-7BEF-242D-5EA4-55CD2EA38D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5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BED6-54DE-7B98-9525-D752F06D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4664-EEF6-9331-DA67-008AA6D83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Scope of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4D9F-B706-B3F0-B672-F45FC1784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34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D81C3-067C-2ACB-45C2-F74654E6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79EB-24FE-0218-555D-D78EE344A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CA4F4-ADFA-FB92-C880-A94D17A6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[scope of improvement]</a:t>
            </a:r>
          </a:p>
        </p:txBody>
      </p:sp>
    </p:spTree>
    <p:extLst>
      <p:ext uri="{BB962C8B-B14F-4D97-AF65-F5344CB8AC3E}">
        <p14:creationId xmlns:p14="http://schemas.microsoft.com/office/powerpoint/2010/main" val="3878520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8668-9D9F-3903-273D-475016DD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0061-2D82-ED05-FDD6-75EDC90A00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75B01-3CD0-3C16-D029-E10BF8717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4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E246-537D-3BFD-170F-C0FE9A05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F804-E388-D3AA-85C8-7EEA9B838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EA16-E7D6-5459-4F71-FB614E582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[scope of improvement]</a:t>
            </a:r>
          </a:p>
        </p:txBody>
      </p:sp>
    </p:spTree>
    <p:extLst>
      <p:ext uri="{BB962C8B-B14F-4D97-AF65-F5344CB8AC3E}">
        <p14:creationId xmlns:p14="http://schemas.microsoft.com/office/powerpoint/2010/main" val="1999180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0A73-22AF-0C24-E396-5C55057A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7D03-631A-221D-22CE-2834014DB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1E9DD-AB7A-ABB4-8697-941703DB5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8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62A4-C21F-7EDC-82D5-64CDBB19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83C9-C315-2B78-DC05-53BFD75B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FD003-1787-2C78-EECE-8059CC50A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[conclusion]</a:t>
            </a:r>
          </a:p>
        </p:txBody>
      </p:sp>
    </p:spTree>
    <p:extLst>
      <p:ext uri="{BB962C8B-B14F-4D97-AF65-F5344CB8AC3E}">
        <p14:creationId xmlns:p14="http://schemas.microsoft.com/office/powerpoint/2010/main" val="29120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971</Words>
  <Application>Microsoft Macintosh PowerPoint</Application>
  <PresentationFormat>Widescreen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Consolas</vt:lpstr>
      <vt:lpstr>Office Theme</vt:lpstr>
      <vt:lpstr>Problem Statement</vt:lpstr>
      <vt:lpstr>PowerPoint Presentation</vt:lpstr>
      <vt:lpstr>Solution</vt:lpstr>
      <vt:lpstr>PowerPoint Presentation</vt:lpstr>
      <vt:lpstr>Mental Model</vt:lpstr>
      <vt:lpstr>PowerPoint Presentation</vt:lpstr>
      <vt:lpstr>Overall Workflow</vt:lpstr>
      <vt:lpstr>PowerPoint Presentation</vt:lpstr>
      <vt:lpstr>Architecture</vt:lpstr>
      <vt:lpstr>PowerPoint Presentation</vt:lpstr>
      <vt:lpstr>DB Schema</vt:lpstr>
      <vt:lpstr>PowerPoint Presentation</vt:lpstr>
      <vt:lpstr>Evaluation</vt:lpstr>
      <vt:lpstr>PowerPoint Presentation</vt:lpstr>
      <vt:lpstr>Models used &amp; why</vt:lpstr>
      <vt:lpstr>PowerPoint Presentation</vt:lpstr>
      <vt:lpstr>Deployment</vt:lpstr>
      <vt:lpstr>PowerPoint Presentation</vt:lpstr>
      <vt:lpstr>Impact of the solution</vt:lpstr>
      <vt:lpstr>PowerPoint Presentation</vt:lpstr>
      <vt:lpstr>Demo Video</vt:lpstr>
      <vt:lpstr>PowerPoint Presentation</vt:lpstr>
      <vt:lpstr>Scope of improvement</vt:lpstr>
      <vt:lpstr>PowerPoint Presentation</vt:lpstr>
      <vt:lpstr>Learnings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Pranjali Sonawane</dc:creator>
  <cp:lastModifiedBy>Pranjali Sonawane</cp:lastModifiedBy>
  <cp:revision>1</cp:revision>
  <dcterms:created xsi:type="dcterms:W3CDTF">2026-08-10T13:23:14Z</dcterms:created>
  <dcterms:modified xsi:type="dcterms:W3CDTF">2026-08-10T14:34:40Z</dcterms:modified>
</cp:coreProperties>
</file>