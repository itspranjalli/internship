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2D8"/>
                </a:solidFill>
                <a:latin typeface="Calibri"/>
              </a:rPr>
              <a:t>EDB SUPPORT PACKAGE FOR AI COE  ·  RESEARCH INCENTIVE SCHEME (RIS(C))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EDB Grant Claim Automation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C8D6E8"/>
                </a:solidFill>
                <a:latin typeface="Calibri"/>
              </a:rPr>
              <a:t>Manpower claims — prepared, verified, audit-ready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 Engineering  ·  Human Resources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0C4"/>
                </a:solidFill>
                <a:latin typeface="Calibri"/>
              </a:rPr>
              <a:t>Application No. S26-10249-RIS(C)   |   Qualifying Period 01 Jan 2026 – 31 Dec 2028   |   17 participating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8096"/>
                </a:solidFill>
                <a:latin typeface="Calibri"/>
              </a:rPr>
              <a:t>Stakeholder briefing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CHALLENGE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Grant claims are high-stakes and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Scale.  </a:t>
            </a:r>
            <a:r>
              <a:rPr sz="1800">
                <a:solidFill>
                  <a:srgbClr val="0B0F17"/>
                </a:solidFill>
                <a:latin typeface="Calibri"/>
              </a:rPr>
              <a:t>17 participating entities, a three-year qualifying period, and a grant worth up to S$42 million — manpower only.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Manual &amp; error-prone.  </a:t>
            </a:r>
            <a:r>
              <a:rPr sz="1800">
                <a:solidFill>
                  <a:srgbClr val="0B0F17"/>
                </a:solidFill>
                <a:latin typeface="Calibri"/>
              </a:rPr>
              <a:t>Each claim is hand-built from timesheets, payroll registers and ECMF lists; one wrong rate or a missed exclusion can sink it.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Heavily audited.  </a:t>
            </a:r>
            <a:r>
              <a:rPr sz="1800">
                <a:solidFill>
                  <a:srgbClr val="0B0F17"/>
                </a:solidFill>
                <a:latin typeface="Calibri"/>
              </a:rPr>
              <a:t>An external Public Accountant verifies under SSRS 4400 and samples at least 85% of the claimed value — every figure must trace to a source document.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Hard deadlines.  </a:t>
            </a:r>
            <a:r>
              <a:rPr sz="1800">
                <a:solidFill>
                  <a:srgbClr val="0B0F17"/>
                </a:solidFill>
                <a:latin typeface="Calibri"/>
              </a:rPr>
              <a:t>Per-entity audits from Oct 2026, group submission to EDB by end Nov 2026, final audited claim within 183 days of the period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SOLUTION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An HR-first portal that does the heavy lifting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Upload, and it takes over.  </a:t>
            </a:r>
            <a:r>
              <a:rPr sz="1600">
                <a:solidFill>
                  <a:srgbClr val="0B0F17"/>
                </a:solidFill>
                <a:latin typeface="Calibri"/>
              </a:rPr>
              <a:t>Drop the HR records; the system reads them, applies EDB's rules, and prepares the claim.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End to end.  </a:t>
            </a:r>
            <a:r>
              <a:rPr sz="1600">
                <a:solidFill>
                  <a:srgbClr val="0B0F17"/>
                </a:solidFill>
                <a:latin typeface="Calibri"/>
              </a:rPr>
              <a:t>Eligibility checks → per-person calculation → the EDB submission pack — in one guided flow.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Private by design.  </a:t>
            </a:r>
            <a:r>
              <a:rPr sz="1600">
                <a:solidFill>
                  <a:srgbClr val="0B0F17"/>
                </a:solidFill>
                <a:latin typeface="Calibri"/>
              </a:rPr>
              <a:t>Runs entirely on your machine; salary data never leaves the building.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Deterministic.  </a:t>
            </a:r>
            <a:r>
              <a:rPr sz="1600">
                <a:solidFill>
                  <a:srgbClr val="0B0F17"/>
                </a:solidFill>
                <a:latin typeface="Calibri"/>
              </a:rPr>
              <a:t>The same inputs always produce identical outputs — a hard audit requirement.</a:t>
            </a:r>
          </a:p>
        </p:txBody>
      </p:sp>
      <p:pic>
        <p:nvPicPr>
          <p:cNvPr id="7" name="Picture 6" descr="shot_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5268"/>
            <a:ext cx="5212080" cy="3664743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WHY THIS SYSTEM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The advantages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Faster.  </a:t>
            </a:r>
            <a:r>
              <a:rPr sz="1700">
                <a:solidFill>
                  <a:srgbClr val="0B0F17"/>
                </a:solidFill>
                <a:latin typeface="Calibri"/>
              </a:rPr>
              <a:t>Weeks of manual spreadsheet work per claim become minutes — upload to audit-ready pack.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Accurate.  </a:t>
            </a:r>
            <a:r>
              <a:rPr sz="1700">
                <a:solidFill>
                  <a:srgbClr val="0B0F17"/>
                </a:solidFill>
                <a:latin typeface="Calibri"/>
              </a:rPr>
              <a:t>Rules applied the same way every time; reconciles to the cent and removes rate, cap and exclusion mistakes.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Audit-ready.  </a:t>
            </a:r>
            <a:r>
              <a:rPr sz="1700">
                <a:solidFill>
                  <a:srgbClr val="0B0F17"/>
                </a:solidFill>
                <a:latin typeface="Calibri"/>
              </a:rPr>
              <a:t>Every figure is one click from its source cell — a smoother, faster, lower-cost SSRS 4400 audit.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Compliant.  </a:t>
            </a:r>
            <a:r>
              <a:rPr sz="1700">
                <a:solidFill>
                  <a:srgbClr val="0B0F17"/>
                </a:solidFill>
                <a:latin typeface="Calibri"/>
              </a:rPr>
              <a:t>The 60% rate, 9-month cap, S$42m ceiling and reporting deadlines are enforced, not remembered.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Transparent.  </a:t>
            </a:r>
            <a:r>
              <a:rPr sz="1700">
                <a:solidFill>
                  <a:srgbClr val="0B0F17"/>
                </a:solidFill>
                <a:latin typeface="Calibri"/>
              </a:rPr>
              <a:t>No black box: full workings are shown and nobody is silently dropped — every decision has a reason.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Secure &amp; scalable.  </a:t>
            </a:r>
            <a:r>
              <a:rPr sz="1700">
                <a:solidFill>
                  <a:srgbClr val="0B0F17"/>
                </a:solidFill>
                <a:latin typeface="Calibri"/>
              </a:rPr>
              <a:t>Runs 100% on-premise (salary data never leaves), and applies one consistent method across all 17 entities.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ADVANTAGES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Before vs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57800" cy="566928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257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Manual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50008"/>
            <a:ext cx="5257800" cy="37764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800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Weeks of spreadsheet work per claim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Easy to mis-apply the rate, cap or an exclusion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Audit prep: hunting for source documents by hand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Hard to keep 17 entities consistent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A rejected claim risks delay or clawback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Salary data scattered across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257800" cy="56692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257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With this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350008"/>
            <a:ext cx="5257800" cy="37764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00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Minutes: upload → audit-ready submission pack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Rules enforced automatically; cent-exact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Every figure one click from its source cell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One consistent method across all 17 entities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Defensible, traceable, deterministic outputs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>
                <a:solidFill>
                  <a:srgbClr val="0B0F17"/>
                </a:solidFill>
                <a:latin typeface="Calibri"/>
              </a:rPr>
              <a:t>All processing on-premise — nothing leaves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PROCESS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How a claim flows through the system</a:t>
            </a:r>
          </a:p>
        </p:txBody>
      </p:sp>
      <p:sp>
        <p:nvSpPr>
          <p:cNvPr id="6" name="Chevron 5"/>
          <p:cNvSpPr/>
          <p:nvPr/>
        </p:nvSpPr>
        <p:spPr>
          <a:xfrm>
            <a:off x="640080" y="2468880"/>
            <a:ext cx="2240280" cy="9144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93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472"/>
                </a:solidFill>
                <a:latin typeface="Calibri"/>
              </a:rPr>
              <a:t>Drop the HR documents (timesheets, ECMF list, payroll, supporting evidence).</a:t>
            </a:r>
          </a:p>
        </p:txBody>
      </p:sp>
      <p:sp>
        <p:nvSpPr>
          <p:cNvPr id="8" name="Chevron 7"/>
          <p:cNvSpPr/>
          <p:nvPr/>
        </p:nvSpPr>
        <p:spPr>
          <a:xfrm>
            <a:off x="2560320" y="2468880"/>
            <a:ext cx="2240280" cy="914400"/>
          </a:xfrm>
          <a:prstGeom prst="chevron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Auto-check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493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472"/>
                </a:solidFill>
                <a:latin typeface="Calibri"/>
              </a:rPr>
              <a:t>System tracks them against the required list and flags what's missing.</a:t>
            </a:r>
          </a:p>
        </p:txBody>
      </p:sp>
      <p:sp>
        <p:nvSpPr>
          <p:cNvPr id="10" name="Chevron 9"/>
          <p:cNvSpPr/>
          <p:nvPr/>
        </p:nvSpPr>
        <p:spPr>
          <a:xfrm>
            <a:off x="4480560" y="2468880"/>
            <a:ext cx="2240280" cy="9144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Eligibility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493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472"/>
                </a:solidFill>
                <a:latin typeface="Calibri"/>
              </a:rPr>
              <a:t>Each person tested against EDB gates G1–G7.</a:t>
            </a:r>
          </a:p>
        </p:txBody>
      </p:sp>
      <p:sp>
        <p:nvSpPr>
          <p:cNvPr id="12" name="Chevron 11"/>
          <p:cNvSpPr/>
          <p:nvPr/>
        </p:nvSpPr>
        <p:spPr>
          <a:xfrm>
            <a:off x="6400800" y="2468880"/>
            <a:ext cx="2240280" cy="914400"/>
          </a:xfrm>
          <a:prstGeom prst="chevron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Calculate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93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472"/>
                </a:solidFill>
                <a:latin typeface="Calibri"/>
              </a:rPr>
              <a:t>Method A claim per person + internal cross-check.</a:t>
            </a:r>
          </a:p>
        </p:txBody>
      </p:sp>
      <p:sp>
        <p:nvSpPr>
          <p:cNvPr id="14" name="Chevron 13"/>
          <p:cNvSpPr/>
          <p:nvPr/>
        </p:nvSpPr>
        <p:spPr>
          <a:xfrm>
            <a:off x="8321040" y="2468880"/>
            <a:ext cx="2240280" cy="9144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Submission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493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472"/>
                </a:solidFill>
                <a:latin typeface="Calibri"/>
              </a:rPr>
              <a:t>EDB template, SOE and issues list generated.</a:t>
            </a:r>
          </a:p>
        </p:txBody>
      </p:sp>
      <p:sp>
        <p:nvSpPr>
          <p:cNvPr id="16" name="Chevron 15"/>
          <p:cNvSpPr/>
          <p:nvPr/>
        </p:nvSpPr>
        <p:spPr>
          <a:xfrm>
            <a:off x="10241280" y="2468880"/>
            <a:ext cx="2240280" cy="914400"/>
          </a:xfrm>
          <a:prstGeom prst="chevron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6.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3493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472"/>
                </a:solidFill>
                <a:latin typeface="Calibri"/>
              </a:rPr>
              <a:t>Practitioner verifies under SSRS 4400; report goes to EDB.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20640"/>
            <a:ext cx="10515600" cy="254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F17"/>
                </a:solidFill>
                <a:latin typeface="Calibri"/>
              </a:rPr>
              <a:t>Upload once → the system checks, calculates and assembles the audit-ready pack. HR stays in control; every figure is traceable and nobody is silently dropped.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HOW IT WORKS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Five guided, transparent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Documents.  </a:t>
            </a:r>
            <a:r>
              <a:rPr sz="1600">
                <a:solidFill>
                  <a:srgbClr val="0B0F17"/>
                </a:solidFill>
                <a:latin typeface="Calibri"/>
              </a:rPr>
              <a:t>Upload timesheets, the ECMF list and payroll; tick the supporting evidence.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Document check.  </a:t>
            </a:r>
            <a:r>
              <a:rPr sz="1600">
                <a:solidFill>
                  <a:srgbClr val="0B0F17"/>
                </a:solidFill>
                <a:latin typeface="Calibri"/>
              </a:rPr>
              <a:t>Missing-document validation per company and per person.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Eligibility.  </a:t>
            </a:r>
            <a:r>
              <a:rPr sz="1600">
                <a:solidFill>
                  <a:srgbClr val="0B0F17"/>
                </a:solidFill>
                <a:latin typeface="Calibri"/>
              </a:rPr>
              <a:t>Every person checked against EDB's criteria.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Claim amount.  </a:t>
            </a:r>
            <a:r>
              <a:rPr sz="1600">
                <a:solidFill>
                  <a:srgbClr val="0B0F17"/>
                </a:solidFill>
                <a:latin typeface="Calibri"/>
              </a:rPr>
              <a:t>Each claim calculated and shown in full.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Submission pack.  </a:t>
            </a:r>
            <a:r>
              <a:rPr sz="1600">
                <a:solidFill>
                  <a:srgbClr val="0B0F17"/>
                </a:solidFill>
                <a:latin typeface="Calibri"/>
              </a:rPr>
              <a:t>The audit-ready outputs, generated.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Verbose &amp; re-runnable.  </a:t>
            </a:r>
            <a:r>
              <a:rPr sz="1600">
                <a:solidFill>
                  <a:srgbClr val="0B0F17"/>
                </a:solidFill>
                <a:latin typeface="Calibri"/>
              </a:rPr>
              <a:t>You see exactly what it's doing; fix a document and re-run.</a:t>
            </a:r>
          </a:p>
        </p:txBody>
      </p:sp>
      <p:pic>
        <p:nvPicPr>
          <p:cNvPr id="7" name="Picture 6" descr="shot_2_analy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89982"/>
            <a:ext cx="5212080" cy="3975315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TRUST BY DESIGN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The AI assists — the maths is deterministic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The model never computes a claim figure.  </a:t>
            </a:r>
            <a:r>
              <a:rPr sz="1800">
                <a:solidFill>
                  <a:srgbClr val="0B0F17"/>
                </a:solidFill>
                <a:latin typeface="Calibri"/>
              </a:rPr>
              <a:t>All arithmetic is pure, auditable Python. The AI only reads documents and explains.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Full traceability.  </a:t>
            </a:r>
            <a:r>
              <a:rPr sz="1800">
                <a:solidFill>
                  <a:srgbClr val="0B0F17"/>
                </a:solidFill>
                <a:latin typeface="Calibri"/>
              </a:rPr>
              <a:t>Every number links to its exact source cell — payslip, timesheet, ECMF list.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Nobody is silently dropped.  </a:t>
            </a:r>
            <a:r>
              <a:rPr sz="1800">
                <a:solidFill>
                  <a:srgbClr val="0B0F17"/>
                </a:solidFill>
                <a:latin typeface="Calibri"/>
              </a:rPr>
              <a:t>Excluded and blocked people are always listed with the reason.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Proven.  </a:t>
            </a:r>
            <a:r>
              <a:rPr sz="1800">
                <a:solidFill>
                  <a:srgbClr val="0B0F17"/>
                </a:solidFill>
                <a:latin typeface="Calibri"/>
              </a:rPr>
              <a:t>115 automated tests; reconciles to the cent against EDB's own worked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ELIGIBILITY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Seven EDB gates, applied to every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The checks.  </a:t>
            </a:r>
            <a:r>
              <a:rPr sz="1600">
                <a:solidFill>
                  <a:srgbClr val="0B0F17"/>
                </a:solidFill>
                <a:latin typeface="Calibri"/>
              </a:rPr>
              <a:t>Citizen/PR · ECMF-validated · no other grant · salary ≥ S$5,000 · eligible R&amp;D role · active in period · payslip present.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Clear verdicts.  </a:t>
            </a:r>
            <a:r>
              <a:rPr sz="1600">
                <a:solidFill>
                  <a:srgbClr val="0B0F17"/>
                </a:solidFill>
                <a:latin typeface="Calibri"/>
              </a:rPr>
              <a:t>Qualifies · Not eligible · Needs a document — with the reason behind each.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Human in the loop.  </a:t>
            </a:r>
            <a:r>
              <a:rPr sz="1600">
                <a:solidFill>
                  <a:srgbClr val="0B0F17"/>
                </a:solidFill>
                <a:latin typeface="Calibri"/>
              </a:rPr>
              <a:t>Borderline roles are flagged for HR to confirm, not auto-decided.</a:t>
            </a:r>
          </a:p>
        </p:txBody>
      </p:sp>
      <p:pic>
        <p:nvPicPr>
          <p:cNvPr id="7" name="Picture 6" descr="shot_4_eli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950" y="1600200"/>
            <a:ext cx="3268660" cy="4754880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CALCULATION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Every claim, shown in full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EDB monthly pro-ration (Method A).  </a:t>
            </a:r>
            <a:r>
              <a:rPr sz="1600">
                <a:solidFill>
                  <a:srgbClr val="0B0F17"/>
                </a:solidFill>
                <a:latin typeface="Calibri"/>
              </a:rPr>
              <a:t>Capped salary × month involved × time on project, summed × the support rate. This is the figure submitted.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Open any person.  </a:t>
            </a:r>
            <a:r>
              <a:rPr sz="1600">
                <a:solidFill>
                  <a:srgbClr val="0B0F17"/>
                </a:solidFill>
                <a:latin typeface="Calibri"/>
              </a:rPr>
              <a:t>See the month-by-month working, each input linked to its source document.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Silent cross-check (Method B).  </a:t>
            </a:r>
            <a:r>
              <a:rPr sz="1600">
                <a:solidFill>
                  <a:srgbClr val="0B0F17"/>
                </a:solidFill>
                <a:latin typeface="Calibri"/>
              </a:rPr>
              <a:t>An internal hours-based method runs in the background; differences are flagged, never hidden.</a:t>
            </a:r>
          </a:p>
        </p:txBody>
      </p:sp>
      <p:pic>
        <p:nvPicPr>
          <p:cNvPr id="7" name="Picture 6" descr="calc_1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899" y="1600200"/>
            <a:ext cx="3114762" cy="4754880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EDB SCHEME RULES, ENCODED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The support package, enforced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Support rate 60%  </a:t>
            </a:r>
            <a:r>
              <a:rPr sz="1700">
                <a:solidFill>
                  <a:srgbClr val="0B0F17"/>
                </a:solidFill>
                <a:latin typeface="Calibri"/>
              </a:rPr>
              <a:t>of the qualifying monthly salary (EDB Support Package).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Basic salary only.  </a:t>
            </a:r>
            <a:r>
              <a:rPr sz="1700">
                <a:solidFill>
                  <a:srgbClr val="0B0F17"/>
                </a:solidFill>
                <a:latin typeface="Calibri"/>
              </a:rPr>
              <a:t>No CPF, bonus, AWS, allowances, COLA or airfare.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Floor S$5,000 · Cap S$20,000/month  </a:t>
            </a:r>
            <a:r>
              <a:rPr sz="1700">
                <a:solidFill>
                  <a:srgbClr val="0B0F17"/>
                </a:solidFill>
                <a:latin typeface="Calibri"/>
              </a:rPr>
              <a:t>→ at most S$12,000 funded per person per month.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New hire vs upskill.  </a:t>
            </a:r>
            <a:r>
              <a:rPr sz="1700">
                <a:solidFill>
                  <a:srgbClr val="0B0F17"/>
                </a:solidFill>
                <a:latin typeface="Calibri"/>
              </a:rPr>
              <a:t>New hires funded across the qualifying period; upskilling to PL3 funded for up to 9 months.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Ceiling S$42m, claim ≥ 3 months.  </a:t>
            </a:r>
            <a:r>
              <a:rPr sz="1700">
                <a:solidFill>
                  <a:srgbClr val="0B0F17"/>
                </a:solidFill>
                <a:latin typeface="Calibri"/>
              </a:rPr>
              <a:t>Manpower-only grant cap, with a minimum claim period.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GRANT &amp; COMPLIANCE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Ceiling, disbursement and deadlines — tracked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Against the S$42m ceiling.  </a:t>
            </a:r>
            <a:r>
              <a:rPr sz="1600">
                <a:solidFill>
                  <a:srgbClr val="0B0F17"/>
                </a:solidFill>
                <a:latin typeface="Calibri"/>
              </a:rPr>
              <a:t>Every submission is measured against the manpower grant cap.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70 / 30 disbursement gate.  </a:t>
            </a:r>
            <a:r>
              <a:rPr sz="1600">
                <a:solidFill>
                  <a:srgbClr val="0B0F17"/>
                </a:solidFill>
                <a:latin typeface="Calibri"/>
              </a:rPr>
              <a:t>Up to 70% disbursed before completion; the final 30% on project completion + T&amp;Cs.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Deadlines computed for you.  </a:t>
            </a:r>
            <a:r>
              <a:rPr sz="1600">
                <a:solidFill>
                  <a:srgbClr val="0B0F17"/>
                </a:solidFill>
                <a:latin typeface="Calibri"/>
              </a:rPr>
              <a:t>12-month Practitioner's Report, 183-day final claim, progress updates, inspection rights.</a:t>
            </a:r>
          </a:p>
        </p:txBody>
      </p:sp>
      <p:pic>
        <p:nvPicPr>
          <p:cNvPr id="7" name="Picture 6" descr="grant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52564"/>
            <a:ext cx="5212080" cy="4650152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INTELLIGENT DOCUMENT INTAKE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Upload anything reasonable — the system sorts it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Guided, in order.  </a:t>
            </a:r>
            <a:r>
              <a:rPr sz="1700">
                <a:solidFill>
                  <a:srgbClr val="0B0F17"/>
                </a:solidFill>
                <a:latin typeface="Calibri"/>
              </a:rPr>
              <a:t>EDB output template and trainee list first, then timesheet / ECMF / payroll — a live tracker ticks each off and shows what's still missing.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Auto-categorised.  </a:t>
            </a:r>
            <a:r>
              <a:rPr sz="1700">
                <a:solidFill>
                  <a:srgbClr val="0B0F17"/>
                </a:solidFill>
                <a:latin typeface="Calibri"/>
              </a:rPr>
              <a:t>Files are recognised by name; a leave report or CPF statement is never mistaken for the core timesheet.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Flexible formats.  </a:t>
            </a:r>
            <a:r>
              <a:rPr sz="1700">
                <a:solidFill>
                  <a:srgbClr val="0B0F17"/>
                </a:solidFill>
                <a:latin typeface="Calibri"/>
              </a:rPr>
              <a:t>Synonym headers ('Emp No', 'Salary'), a Period/Pay-Date column, or one payslip per file with the month in its name — all parse and merge.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Clear reasons when rejected.  </a:t>
            </a:r>
            <a:r>
              <a:rPr sz="1700">
                <a:solidFill>
                  <a:srgbClr val="0B0F17"/>
                </a:solidFill>
                <a:latin typeface="Calibri"/>
              </a:rPr>
              <a:t>If a file can't be read it explains why (missing sheet/column, wrong period) and how to fix it — never a stack trace.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AUDIT-READY EVIDENCE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From any figure to its source, in one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One-click traceability.  </a:t>
            </a:r>
            <a:r>
              <a:rPr sz="1600">
                <a:solidFill>
                  <a:srgbClr val="0B0F17"/>
                </a:solidFill>
                <a:latin typeface="Calibri"/>
              </a:rPr>
              <a:t>Click a number → the exact cell in the original payslip or timesheet, highlighted.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Three outputs, one per reader.  </a:t>
            </a:r>
            <a:r>
              <a:rPr sz="1600">
                <a:solidFill>
                  <a:srgbClr val="0B0F17"/>
                </a:solidFill>
                <a:latin typeface="Calibri"/>
              </a:rPr>
              <a:t>EDB submission template · Statement of Expenditure (auditor) · Issues list (HR).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▸  </a:t>
            </a:r>
            <a:r>
              <a:rPr sz="1600" b="1">
                <a:solidFill>
                  <a:srgbClr val="0B0F17"/>
                </a:solidFill>
                <a:latin typeface="Calibri"/>
              </a:rPr>
              <a:t>Built for SSRS 4400.  </a:t>
            </a:r>
            <a:r>
              <a:rPr sz="1600">
                <a:solidFill>
                  <a:srgbClr val="0B0F17"/>
                </a:solidFill>
                <a:latin typeface="Calibri"/>
              </a:rPr>
              <a:t>Designed for the auditor's ≥85% value sampling — every claimed dollar is traceable.</a:t>
            </a:r>
          </a:p>
        </p:txBody>
      </p:sp>
      <p:pic>
        <p:nvPicPr>
          <p:cNvPr id="7" name="Picture 6" descr="calc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69132"/>
            <a:ext cx="5212080" cy="4417016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HOW CLAIMS ARE VERIFIED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The audit explained — SSRS 4400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Agreed-upon procedures — not an audit or a review.  </a:t>
            </a:r>
            <a:r>
              <a:rPr sz="1700">
                <a:solidFill>
                  <a:srgbClr val="0B0F17"/>
                </a:solidFill>
                <a:latin typeface="Calibri"/>
              </a:rPr>
              <a:t>An ACRA-registered Public Accountant (the “Practitioner”) performs a set of procedures agreed with EDB and reports factual findings only — no opinion or assurance is given; EDB draws its own conclusions.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At least 85% of claimed value is sampled.  </a:t>
            </a:r>
            <a:r>
              <a:rPr sz="1700">
                <a:solidFill>
                  <a:srgbClr val="0B0F17"/>
                </a:solidFill>
                <a:latin typeface="Calibri"/>
              </a:rPr>
              <a:t>The Practitioner tests ≥ 85% of the claimed value against the Statement of Expenditure (SOE), vouching each sampled figure to its source document.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Direct to EDB, on a cadence.  </a:t>
            </a:r>
            <a:r>
              <a:rPr sz="1700">
                <a:solidFill>
                  <a:srgbClr val="0B0F17"/>
                </a:solidFill>
                <a:latin typeface="Calibri"/>
              </a:rPr>
              <a:t>The Practitioner’s Report goes straight from the Practitioner to EDB — at least every 12 months, with the final audited claim within 183 days of the qualifying-period end.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▸  </a:t>
            </a:r>
            <a:r>
              <a:rPr sz="1700" b="1">
                <a:solidFill>
                  <a:srgbClr val="0B0F17"/>
                </a:solidFill>
                <a:latin typeface="Calibri"/>
              </a:rPr>
              <a:t>What we built for it.  </a:t>
            </a:r>
            <a:r>
              <a:rPr sz="1700">
                <a:solidFill>
                  <a:srgbClr val="0B0F17"/>
                </a:solidFill>
                <a:latin typeface="Calibri"/>
              </a:rPr>
              <a:t>One-click traceability and the SOE output make this engagement fast and clean; outputs stay labelled “UnauditedClaim” until the Practitioner completes their procedures.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BUILT-IN ASSISTANT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Ask the claim anything,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 b="1">
                <a:solidFill>
                  <a:srgbClr val="0B0F17"/>
                </a:solidFill>
                <a:latin typeface="Calibri"/>
              </a:rPr>
              <a:t>Natural-language Q&amp;A.  </a:t>
            </a:r>
            <a:r>
              <a:rPr sz="1400">
                <a:solidFill>
                  <a:srgbClr val="0B0F17"/>
                </a:solidFill>
                <a:latin typeface="Calibri"/>
              </a:rPr>
              <a:t>“Why is this person excluded?”, “How is the claim calculated?”, “What's the 9-month rule?”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 b="1">
                <a:solidFill>
                  <a:srgbClr val="0B0F17"/>
                </a:solidFill>
                <a:latin typeface="Calibri"/>
              </a:rPr>
              <a:t>Recall across claims.  </a:t>
            </a:r>
            <a:r>
              <a:rPr sz="1400">
                <a:solidFill>
                  <a:srgbClr val="0B0F17"/>
                </a:solidFill>
                <a:latin typeface="Calibri"/>
              </a:rPr>
              <a:t>“What documents do we have for E001?” fetches that person's saved document checklist from an earlier claim — with citations — even in a new session.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 b="1">
                <a:solidFill>
                  <a:srgbClr val="0B0F17"/>
                </a:solidFill>
                <a:latin typeface="Calibri"/>
              </a:rPr>
              <a:t>Local AI.  </a:t>
            </a:r>
            <a:r>
              <a:rPr sz="1400">
                <a:solidFill>
                  <a:srgbClr val="0B0F17"/>
                </a:solidFill>
                <a:latin typeface="Calibri"/>
              </a:rPr>
              <a:t>Powered by a model running on ST Engineering's own DGX — private, no external calls.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▸  </a:t>
            </a:r>
            <a:r>
              <a:rPr sz="1400" b="1">
                <a:solidFill>
                  <a:srgbClr val="0B0F17"/>
                </a:solidFill>
                <a:latin typeface="Calibri"/>
              </a:rPr>
              <a:t>Grounded.  </a:t>
            </a:r>
            <a:r>
              <a:rPr sz="1400">
                <a:solidFill>
                  <a:srgbClr val="0B0F17"/>
                </a:solidFill>
                <a:latin typeface="Calibri"/>
              </a:rPr>
              <a:t>It explains and reasons, but never invents a figure — answers cite the source.</a:t>
            </a:r>
          </a:p>
        </p:txBody>
      </p:sp>
      <p:pic>
        <p:nvPicPr>
          <p:cNvPr id="7" name="Picture 6" descr="cha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01642"/>
            <a:ext cx="5212080" cy="4151995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ARCHITECTURE &amp; SECURITY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Modern, on-premise,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Web app on a Python engine.  </a:t>
            </a:r>
            <a:r>
              <a:rPr sz="1800">
                <a:solidFill>
                  <a:srgbClr val="0B0F17"/>
                </a:solidFill>
                <a:latin typeface="Calibri"/>
              </a:rPr>
              <a:t>A clean React interface over the deterministic calculation core.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Local AI + local data.  </a:t>
            </a:r>
            <a:r>
              <a:rPr sz="1800">
                <a:solidFill>
                  <a:srgbClr val="0B0F17"/>
                </a:solidFill>
                <a:latin typeface="Calibri"/>
              </a:rPr>
              <a:t>Qwen model on the DGX; a per-employee SQLite store on the machine.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Nothing leaves the building.  </a:t>
            </a:r>
            <a:r>
              <a:rPr sz="1800">
                <a:solidFill>
                  <a:srgbClr val="0B0F17"/>
                </a:solidFill>
                <a:latin typeface="Calibri"/>
              </a:rPr>
              <a:t>All salary and claim data processed on-premise; no internet calls.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Auditable AI.  </a:t>
            </a:r>
            <a:r>
              <a:rPr sz="1800">
                <a:solidFill>
                  <a:srgbClr val="0B0F17"/>
                </a:solidFill>
                <a:latin typeface="Calibri"/>
              </a:rPr>
              <a:t>Every model call is temperature-0, schema-constrained, cached and logged.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STATUS &amp; NEXT STEPS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0B0F17"/>
                </a:solidFill>
                <a:latin typeface="Calibri"/>
              </a:rPr>
              <a:t>POC complete — ready to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Built and verified.  </a:t>
            </a:r>
            <a:r>
              <a:rPr sz="1800">
                <a:solidFill>
                  <a:srgbClr val="0B0F17"/>
                </a:solidFill>
                <a:latin typeface="Calibri"/>
              </a:rPr>
              <a:t>Full pipeline end-to-end on synthetic data; 115 automated tests passing.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Pending confirmation.  </a:t>
            </a:r>
            <a:r>
              <a:rPr sz="1800">
                <a:solidFill>
                  <a:srgbClr val="0B0F17"/>
                </a:solidFill>
                <a:latin typeface="Calibri"/>
              </a:rPr>
              <a:t>Exact support rate &amp; 9-month anchoring (Letter of Award); the auditor's final document list.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▸  </a:t>
            </a:r>
            <a:r>
              <a:rPr sz="1800" b="1">
                <a:solidFill>
                  <a:srgbClr val="0B0F17"/>
                </a:solidFill>
                <a:latin typeface="Calibri"/>
              </a:rPr>
              <a:t>Next.  </a:t>
            </a:r>
            <a:r>
              <a:rPr sz="1800">
                <a:solidFill>
                  <a:srgbClr val="0B0F17"/>
                </a:solidFill>
                <a:latin typeface="Calibri"/>
              </a:rPr>
              <a:t>Pilot on a real entity's data; connect to live payroll and timesheet exports; finalise outputs with the appointed auditor.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C8D6E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8096"/>
                </a:solidFill>
                <a:latin typeface="Calibri"/>
              </a:rPr>
              <a:t>EDB Grant Claim Automation  ·  ST Engineering HR  ·  S26-10249-RIS(C)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